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ebp" ContentType="image/webp"/>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9"/>
  </p:notesMasterIdLst>
  <p:sldIdLst>
    <p:sldId id="297" r:id="rId2"/>
    <p:sldId id="299" r:id="rId3"/>
    <p:sldId id="300" r:id="rId4"/>
    <p:sldId id="301" r:id="rId5"/>
    <p:sldId id="322" r:id="rId6"/>
    <p:sldId id="329" r:id="rId7"/>
    <p:sldId id="302" r:id="rId8"/>
    <p:sldId id="321" r:id="rId9"/>
    <p:sldId id="330" r:id="rId10"/>
    <p:sldId id="331" r:id="rId11"/>
    <p:sldId id="332" r:id="rId12"/>
    <p:sldId id="303" r:id="rId13"/>
    <p:sldId id="304" r:id="rId14"/>
    <p:sldId id="305" r:id="rId15"/>
    <p:sldId id="306" r:id="rId16"/>
    <p:sldId id="333" r:id="rId17"/>
    <p:sldId id="334" r:id="rId18"/>
    <p:sldId id="317" r:id="rId19"/>
    <p:sldId id="323" r:id="rId20"/>
    <p:sldId id="324" r:id="rId21"/>
    <p:sldId id="335" r:id="rId22"/>
    <p:sldId id="325" r:id="rId23"/>
    <p:sldId id="336" r:id="rId24"/>
    <p:sldId id="337" r:id="rId25"/>
    <p:sldId id="327" r:id="rId26"/>
    <p:sldId id="328" r:id="rId27"/>
    <p:sldId id="296" r:id="rId2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570">
          <p15:clr>
            <a:srgbClr val="9AA0A6"/>
          </p15:clr>
        </p15:guide>
        <p15:guide id="2" pos="5868">
          <p15:clr>
            <a:srgbClr val="9AA0A6"/>
          </p15:clr>
        </p15:guide>
        <p15:guide id="3" orient="horz" pos="157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6" roundtripDataSignature="AMtx7mgzPzfW/Eqj5INjXEMP3JF+w7YJ8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C2D7396-3E8A-4C48-A43C-EBEA59809495}">
  <a:tblStyle styleId="{2C2D7396-3E8A-4C48-A43C-EBEA59809495}"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3825" autoAdjust="0"/>
  </p:normalViewPr>
  <p:slideViewPr>
    <p:cSldViewPr snapToGrid="0">
      <p:cViewPr varScale="1">
        <p:scale>
          <a:sx n="67" d="100"/>
          <a:sy n="67" d="100"/>
        </p:scale>
        <p:origin x="834" y="66"/>
      </p:cViewPr>
      <p:guideLst>
        <p:guide orient="horz" pos="1570"/>
        <p:guide pos="5868"/>
        <p:guide orient="horz" pos="157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59"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8"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57"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56" Type="http://customschemas.google.com/relationships/presentationmetadata" Target="metadata"/><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7</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0776649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A2B58-F258-1001-FF2A-382C885F9B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4C8194-03D9-3DFD-79D9-9B62F12149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A8D46E-28F6-A42A-C74C-2503F41A83E6}"/>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3DD62B6E-A99E-6C0F-4026-B32E9F065146}"/>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8</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1015445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p:cNvGrpSpPr/>
        <p:nvPr/>
      </p:nvGrpSpPr>
      <p:grpSpPr>
        <a:xfrm>
          <a:off x="0" y="0"/>
          <a:ext cx="0" cy="0"/>
          <a:chOff x="0" y="0"/>
          <a:chExt cx="0" cy="0"/>
        </a:xfrm>
      </p:grpSpPr>
      <p:sp>
        <p:nvSpPr>
          <p:cNvPr id="486" name="Google Shape;486;p6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7" name="Google Shape;487;p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9"/>
        <p:cNvGrpSpPr/>
        <p:nvPr/>
      </p:nvGrpSpPr>
      <p:grpSpPr>
        <a:xfrm>
          <a:off x="0" y="0"/>
          <a:ext cx="0" cy="0"/>
          <a:chOff x="0" y="0"/>
          <a:chExt cx="0" cy="0"/>
        </a:xfrm>
      </p:grpSpPr>
      <p:sp>
        <p:nvSpPr>
          <p:cNvPr id="30" name="Google Shape;30;p39"/>
          <p:cNvSpPr txBox="1">
            <a:spLocks noGrp="1"/>
          </p:cNvSpPr>
          <p:nvPr>
            <p:ph type="title"/>
          </p:nvPr>
        </p:nvSpPr>
        <p:spPr>
          <a:xfrm>
            <a:off x="838200" y="365125"/>
            <a:ext cx="10515600" cy="1325563"/>
          </a:xfrm>
          <a:prstGeom prst="rect">
            <a:avLst/>
          </a:prstGeom>
          <a:noFill/>
          <a:ln>
            <a:noFill/>
          </a:ln>
        </p:spPr>
        <p:txBody>
          <a:bodyPr spcFirstLastPara="1" wrap="square" lIns="91400" tIns="45675" rIns="91400" bIns="45675"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39"/>
          <p:cNvSpPr txBox="1">
            <a:spLocks noGrp="1"/>
          </p:cNvSpPr>
          <p:nvPr>
            <p:ph type="body" idx="1"/>
          </p:nvPr>
        </p:nvSpPr>
        <p:spPr>
          <a:xfrm>
            <a:off x="838200" y="1825625"/>
            <a:ext cx="10515600" cy="4351339"/>
          </a:xfrm>
          <a:prstGeom prst="rect">
            <a:avLst/>
          </a:prstGeom>
          <a:noFill/>
          <a:ln>
            <a:noFill/>
          </a:ln>
        </p:spPr>
        <p:txBody>
          <a:bodyPr spcFirstLastPara="1" wrap="square" lIns="91400" tIns="45675" rIns="91400" bIns="45675"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39"/>
          <p:cNvSpPr txBox="1">
            <a:spLocks noGrp="1"/>
          </p:cNvSpPr>
          <p:nvPr>
            <p:ph type="dt" idx="10"/>
          </p:nvPr>
        </p:nvSpPr>
        <p:spPr>
          <a:xfrm>
            <a:off x="838200" y="6356352"/>
            <a:ext cx="2743200" cy="365125"/>
          </a:xfrm>
          <a:prstGeom prst="rect">
            <a:avLst/>
          </a:prstGeom>
          <a:noFill/>
          <a:ln>
            <a:noFill/>
          </a:ln>
        </p:spPr>
        <p:txBody>
          <a:bodyPr spcFirstLastPara="1" wrap="square" lIns="91400" tIns="45675" rIns="91400" bIns="4567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39"/>
          <p:cNvSpPr txBox="1">
            <a:spLocks noGrp="1"/>
          </p:cNvSpPr>
          <p:nvPr>
            <p:ph type="ftr" idx="11"/>
          </p:nvPr>
        </p:nvSpPr>
        <p:spPr>
          <a:xfrm>
            <a:off x="4038600" y="6356352"/>
            <a:ext cx="4114800" cy="365125"/>
          </a:xfrm>
          <a:prstGeom prst="rect">
            <a:avLst/>
          </a:prstGeom>
          <a:noFill/>
          <a:ln>
            <a:noFill/>
          </a:ln>
        </p:spPr>
        <p:txBody>
          <a:bodyPr spcFirstLastPara="1" wrap="square" lIns="91400" tIns="45675" rIns="91400" bIns="4567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39"/>
          <p:cNvSpPr txBox="1">
            <a:spLocks noGrp="1"/>
          </p:cNvSpPr>
          <p:nvPr>
            <p:ph type="sldNum" idx="12"/>
          </p:nvPr>
        </p:nvSpPr>
        <p:spPr>
          <a:xfrm>
            <a:off x="8610600" y="6356352"/>
            <a:ext cx="2743200" cy="365125"/>
          </a:xfrm>
          <a:prstGeom prst="rect">
            <a:avLst/>
          </a:prstGeom>
          <a:noFill/>
          <a:ln>
            <a:noFill/>
          </a:ln>
        </p:spPr>
        <p:txBody>
          <a:bodyPr spcFirstLastPara="1" wrap="square" lIns="91400" tIns="45675" rIns="91400" bIns="45675"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9"/>
        <p:cNvGrpSpPr/>
        <p:nvPr/>
      </p:nvGrpSpPr>
      <p:grpSpPr>
        <a:xfrm>
          <a:off x="0" y="0"/>
          <a:ext cx="0" cy="0"/>
          <a:chOff x="0" y="0"/>
          <a:chExt cx="0" cy="0"/>
        </a:xfrm>
      </p:grpSpPr>
      <p:sp>
        <p:nvSpPr>
          <p:cNvPr id="50" name="Google Shape;50;p40"/>
          <p:cNvSpPr txBox="1">
            <a:spLocks noGrp="1"/>
          </p:cNvSpPr>
          <p:nvPr>
            <p:ph type="title"/>
          </p:nvPr>
        </p:nvSpPr>
        <p:spPr>
          <a:xfrm>
            <a:off x="831851" y="1709750"/>
            <a:ext cx="10515600" cy="2852737"/>
          </a:xfrm>
          <a:prstGeom prst="rect">
            <a:avLst/>
          </a:prstGeom>
          <a:noFill/>
          <a:ln>
            <a:noFill/>
          </a:ln>
        </p:spPr>
        <p:txBody>
          <a:bodyPr spcFirstLastPara="1" wrap="square" lIns="91400" tIns="45675" rIns="91400" bIns="45675"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40"/>
          <p:cNvSpPr txBox="1">
            <a:spLocks noGrp="1"/>
          </p:cNvSpPr>
          <p:nvPr>
            <p:ph type="body" idx="1"/>
          </p:nvPr>
        </p:nvSpPr>
        <p:spPr>
          <a:xfrm>
            <a:off x="831851" y="4589465"/>
            <a:ext cx="10515600" cy="1500187"/>
          </a:xfrm>
          <a:prstGeom prst="rect">
            <a:avLst/>
          </a:prstGeom>
          <a:noFill/>
          <a:ln>
            <a:noFill/>
          </a:ln>
        </p:spPr>
        <p:txBody>
          <a:bodyPr spcFirstLastPara="1" wrap="square" lIns="91400" tIns="45675" rIns="91400" bIns="45675"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9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52" name="Google Shape;52;p40"/>
          <p:cNvSpPr txBox="1">
            <a:spLocks noGrp="1"/>
          </p:cNvSpPr>
          <p:nvPr>
            <p:ph type="dt" idx="10"/>
          </p:nvPr>
        </p:nvSpPr>
        <p:spPr>
          <a:xfrm>
            <a:off x="838200" y="6356352"/>
            <a:ext cx="2743200" cy="365125"/>
          </a:xfrm>
          <a:prstGeom prst="rect">
            <a:avLst/>
          </a:prstGeom>
          <a:noFill/>
          <a:ln>
            <a:noFill/>
          </a:ln>
        </p:spPr>
        <p:txBody>
          <a:bodyPr spcFirstLastPara="1" wrap="square" lIns="91400" tIns="45675" rIns="91400" bIns="4567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40"/>
          <p:cNvSpPr txBox="1">
            <a:spLocks noGrp="1"/>
          </p:cNvSpPr>
          <p:nvPr>
            <p:ph type="ftr" idx="11"/>
          </p:nvPr>
        </p:nvSpPr>
        <p:spPr>
          <a:xfrm>
            <a:off x="4038600" y="6356352"/>
            <a:ext cx="4114800" cy="365125"/>
          </a:xfrm>
          <a:prstGeom prst="rect">
            <a:avLst/>
          </a:prstGeom>
          <a:noFill/>
          <a:ln>
            <a:noFill/>
          </a:ln>
        </p:spPr>
        <p:txBody>
          <a:bodyPr spcFirstLastPara="1" wrap="square" lIns="91400" tIns="45675" rIns="91400" bIns="4567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40"/>
          <p:cNvSpPr txBox="1">
            <a:spLocks noGrp="1"/>
          </p:cNvSpPr>
          <p:nvPr>
            <p:ph type="sldNum" idx="12"/>
          </p:nvPr>
        </p:nvSpPr>
        <p:spPr>
          <a:xfrm>
            <a:off x="8610600" y="6356352"/>
            <a:ext cx="2743200" cy="365125"/>
          </a:xfrm>
          <a:prstGeom prst="rect">
            <a:avLst/>
          </a:prstGeom>
          <a:noFill/>
          <a:ln>
            <a:noFill/>
          </a:ln>
        </p:spPr>
        <p:txBody>
          <a:bodyPr spcFirstLastPara="1" wrap="square" lIns="91400" tIns="45675" rIns="91400" bIns="45675"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2"/>
        <p:cNvGrpSpPr/>
        <p:nvPr/>
      </p:nvGrpSpPr>
      <p:grpSpPr>
        <a:xfrm>
          <a:off x="0" y="0"/>
          <a:ext cx="0" cy="0"/>
          <a:chOff x="0" y="0"/>
          <a:chExt cx="0" cy="0"/>
        </a:xfrm>
      </p:grpSpPr>
      <p:sp>
        <p:nvSpPr>
          <p:cNvPr id="63" name="Google Shape;63;p43"/>
          <p:cNvSpPr txBox="1">
            <a:spLocks noGrp="1"/>
          </p:cNvSpPr>
          <p:nvPr>
            <p:ph type="title"/>
          </p:nvPr>
        </p:nvSpPr>
        <p:spPr>
          <a:xfrm>
            <a:off x="838200" y="365125"/>
            <a:ext cx="10515600" cy="1325563"/>
          </a:xfrm>
          <a:prstGeom prst="rect">
            <a:avLst/>
          </a:prstGeom>
          <a:noFill/>
          <a:ln>
            <a:noFill/>
          </a:ln>
        </p:spPr>
        <p:txBody>
          <a:bodyPr spcFirstLastPara="1" wrap="square" lIns="91400" tIns="45675" rIns="91400" bIns="45675"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43"/>
          <p:cNvSpPr txBox="1">
            <a:spLocks noGrp="1"/>
          </p:cNvSpPr>
          <p:nvPr>
            <p:ph type="dt" idx="10"/>
          </p:nvPr>
        </p:nvSpPr>
        <p:spPr>
          <a:xfrm>
            <a:off x="838200" y="6356352"/>
            <a:ext cx="2743200" cy="365125"/>
          </a:xfrm>
          <a:prstGeom prst="rect">
            <a:avLst/>
          </a:prstGeom>
          <a:noFill/>
          <a:ln>
            <a:noFill/>
          </a:ln>
        </p:spPr>
        <p:txBody>
          <a:bodyPr spcFirstLastPara="1" wrap="square" lIns="91400" tIns="45675" rIns="91400" bIns="4567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43"/>
          <p:cNvSpPr txBox="1">
            <a:spLocks noGrp="1"/>
          </p:cNvSpPr>
          <p:nvPr>
            <p:ph type="ftr" idx="11"/>
          </p:nvPr>
        </p:nvSpPr>
        <p:spPr>
          <a:xfrm>
            <a:off x="4038600" y="6356352"/>
            <a:ext cx="4114800" cy="365125"/>
          </a:xfrm>
          <a:prstGeom prst="rect">
            <a:avLst/>
          </a:prstGeom>
          <a:noFill/>
          <a:ln>
            <a:noFill/>
          </a:ln>
        </p:spPr>
        <p:txBody>
          <a:bodyPr spcFirstLastPara="1" wrap="square" lIns="91400" tIns="45675" rIns="91400" bIns="4567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43"/>
          <p:cNvSpPr txBox="1">
            <a:spLocks noGrp="1"/>
          </p:cNvSpPr>
          <p:nvPr>
            <p:ph type="sldNum" idx="12"/>
          </p:nvPr>
        </p:nvSpPr>
        <p:spPr>
          <a:xfrm>
            <a:off x="8610600" y="6356352"/>
            <a:ext cx="2743200" cy="365125"/>
          </a:xfrm>
          <a:prstGeom prst="rect">
            <a:avLst/>
          </a:prstGeom>
          <a:noFill/>
          <a:ln>
            <a:noFill/>
          </a:ln>
        </p:spPr>
        <p:txBody>
          <a:bodyPr spcFirstLastPara="1" wrap="square" lIns="91400" tIns="45675" rIns="91400" bIns="45675"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7"/>
        <p:cNvGrpSpPr/>
        <p:nvPr/>
      </p:nvGrpSpPr>
      <p:grpSpPr>
        <a:xfrm>
          <a:off x="0" y="0"/>
          <a:ext cx="0" cy="0"/>
          <a:chOff x="0" y="0"/>
          <a:chExt cx="0" cy="0"/>
        </a:xfrm>
      </p:grpSpPr>
      <p:sp>
        <p:nvSpPr>
          <p:cNvPr id="68" name="Google Shape;68;p44"/>
          <p:cNvSpPr txBox="1">
            <a:spLocks noGrp="1"/>
          </p:cNvSpPr>
          <p:nvPr>
            <p:ph type="title"/>
          </p:nvPr>
        </p:nvSpPr>
        <p:spPr>
          <a:xfrm>
            <a:off x="839788" y="457200"/>
            <a:ext cx="3932237" cy="1600200"/>
          </a:xfrm>
          <a:prstGeom prst="rect">
            <a:avLst/>
          </a:prstGeom>
          <a:noFill/>
          <a:ln>
            <a:noFill/>
          </a:ln>
        </p:spPr>
        <p:txBody>
          <a:bodyPr spcFirstLastPara="1" wrap="square" lIns="91400" tIns="45675" rIns="91400" bIns="45675"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44"/>
          <p:cNvSpPr txBox="1">
            <a:spLocks noGrp="1"/>
          </p:cNvSpPr>
          <p:nvPr>
            <p:ph type="body" idx="1"/>
          </p:nvPr>
        </p:nvSpPr>
        <p:spPr>
          <a:xfrm>
            <a:off x="5183188" y="987437"/>
            <a:ext cx="6172200" cy="4873625"/>
          </a:xfrm>
          <a:prstGeom prst="rect">
            <a:avLst/>
          </a:prstGeom>
          <a:noFill/>
          <a:ln>
            <a:noFill/>
          </a:ln>
        </p:spPr>
        <p:txBody>
          <a:bodyPr spcFirstLastPara="1" wrap="square" lIns="91400" tIns="45675" rIns="91400" bIns="45675"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70" name="Google Shape;70;p44"/>
          <p:cNvSpPr txBox="1">
            <a:spLocks noGrp="1"/>
          </p:cNvSpPr>
          <p:nvPr>
            <p:ph type="body" idx="2"/>
          </p:nvPr>
        </p:nvSpPr>
        <p:spPr>
          <a:xfrm>
            <a:off x="839788" y="2057403"/>
            <a:ext cx="3932237" cy="3811588"/>
          </a:xfrm>
          <a:prstGeom prst="rect">
            <a:avLst/>
          </a:prstGeom>
          <a:noFill/>
          <a:ln>
            <a:noFill/>
          </a:ln>
        </p:spPr>
        <p:txBody>
          <a:bodyPr spcFirstLastPara="1" wrap="square" lIns="91400" tIns="45675" rIns="91400" bIns="45675"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5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100"/>
            </a:lvl4pPr>
            <a:lvl5pPr marL="2286000" lvl="4" indent="-228600" algn="l">
              <a:lnSpc>
                <a:spcPct val="90000"/>
              </a:lnSpc>
              <a:spcBef>
                <a:spcPts val="500"/>
              </a:spcBef>
              <a:spcAft>
                <a:spcPts val="0"/>
              </a:spcAft>
              <a:buClr>
                <a:schemeClr val="dk1"/>
              </a:buClr>
              <a:buSzPts val="1000"/>
              <a:buNone/>
              <a:defRPr sz="1100"/>
            </a:lvl5pPr>
            <a:lvl6pPr marL="2743200" lvl="5" indent="-228600" algn="l">
              <a:lnSpc>
                <a:spcPct val="90000"/>
              </a:lnSpc>
              <a:spcBef>
                <a:spcPts val="500"/>
              </a:spcBef>
              <a:spcAft>
                <a:spcPts val="0"/>
              </a:spcAft>
              <a:buClr>
                <a:schemeClr val="dk1"/>
              </a:buClr>
              <a:buSzPts val="1000"/>
              <a:buNone/>
              <a:defRPr sz="1100"/>
            </a:lvl6pPr>
            <a:lvl7pPr marL="3200400" lvl="6" indent="-228600" algn="l">
              <a:lnSpc>
                <a:spcPct val="90000"/>
              </a:lnSpc>
              <a:spcBef>
                <a:spcPts val="500"/>
              </a:spcBef>
              <a:spcAft>
                <a:spcPts val="0"/>
              </a:spcAft>
              <a:buClr>
                <a:schemeClr val="dk1"/>
              </a:buClr>
              <a:buSzPts val="1000"/>
              <a:buNone/>
              <a:defRPr sz="1100"/>
            </a:lvl7pPr>
            <a:lvl8pPr marL="3657600" lvl="7" indent="-228600" algn="l">
              <a:lnSpc>
                <a:spcPct val="90000"/>
              </a:lnSpc>
              <a:spcBef>
                <a:spcPts val="500"/>
              </a:spcBef>
              <a:spcAft>
                <a:spcPts val="0"/>
              </a:spcAft>
              <a:buClr>
                <a:schemeClr val="dk1"/>
              </a:buClr>
              <a:buSzPts val="1000"/>
              <a:buNone/>
              <a:defRPr sz="1100"/>
            </a:lvl8pPr>
            <a:lvl9pPr marL="4114800" lvl="8" indent="-228600" algn="l">
              <a:lnSpc>
                <a:spcPct val="90000"/>
              </a:lnSpc>
              <a:spcBef>
                <a:spcPts val="500"/>
              </a:spcBef>
              <a:spcAft>
                <a:spcPts val="0"/>
              </a:spcAft>
              <a:buClr>
                <a:schemeClr val="dk1"/>
              </a:buClr>
              <a:buSzPts val="1000"/>
              <a:buNone/>
              <a:defRPr sz="1100"/>
            </a:lvl9pPr>
          </a:lstStyle>
          <a:p>
            <a:endParaRPr/>
          </a:p>
        </p:txBody>
      </p:sp>
      <p:sp>
        <p:nvSpPr>
          <p:cNvPr id="71" name="Google Shape;71;p44"/>
          <p:cNvSpPr txBox="1">
            <a:spLocks noGrp="1"/>
          </p:cNvSpPr>
          <p:nvPr>
            <p:ph type="dt" idx="10"/>
          </p:nvPr>
        </p:nvSpPr>
        <p:spPr>
          <a:xfrm>
            <a:off x="838200" y="6356352"/>
            <a:ext cx="2743200" cy="365125"/>
          </a:xfrm>
          <a:prstGeom prst="rect">
            <a:avLst/>
          </a:prstGeom>
          <a:noFill/>
          <a:ln>
            <a:noFill/>
          </a:ln>
        </p:spPr>
        <p:txBody>
          <a:bodyPr spcFirstLastPara="1" wrap="square" lIns="91400" tIns="45675" rIns="91400" bIns="4567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44"/>
          <p:cNvSpPr txBox="1">
            <a:spLocks noGrp="1"/>
          </p:cNvSpPr>
          <p:nvPr>
            <p:ph type="ftr" idx="11"/>
          </p:nvPr>
        </p:nvSpPr>
        <p:spPr>
          <a:xfrm>
            <a:off x="4038600" y="6356352"/>
            <a:ext cx="4114800" cy="365125"/>
          </a:xfrm>
          <a:prstGeom prst="rect">
            <a:avLst/>
          </a:prstGeom>
          <a:noFill/>
          <a:ln>
            <a:noFill/>
          </a:ln>
        </p:spPr>
        <p:txBody>
          <a:bodyPr spcFirstLastPara="1" wrap="square" lIns="91400" tIns="45675" rIns="91400" bIns="4567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44"/>
          <p:cNvSpPr txBox="1">
            <a:spLocks noGrp="1"/>
          </p:cNvSpPr>
          <p:nvPr>
            <p:ph type="sldNum" idx="12"/>
          </p:nvPr>
        </p:nvSpPr>
        <p:spPr>
          <a:xfrm>
            <a:off x="8610600" y="6356352"/>
            <a:ext cx="2743200" cy="365125"/>
          </a:xfrm>
          <a:prstGeom prst="rect">
            <a:avLst/>
          </a:prstGeom>
          <a:noFill/>
          <a:ln>
            <a:noFill/>
          </a:ln>
        </p:spPr>
        <p:txBody>
          <a:bodyPr spcFirstLastPara="1" wrap="square" lIns="91400" tIns="45675" rIns="91400" bIns="45675"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4"/>
        <p:cNvGrpSpPr/>
        <p:nvPr/>
      </p:nvGrpSpPr>
      <p:grpSpPr>
        <a:xfrm>
          <a:off x="0" y="0"/>
          <a:ext cx="0" cy="0"/>
          <a:chOff x="0" y="0"/>
          <a:chExt cx="0" cy="0"/>
        </a:xfrm>
      </p:grpSpPr>
      <p:sp>
        <p:nvSpPr>
          <p:cNvPr id="75" name="Google Shape;75;p45"/>
          <p:cNvSpPr txBox="1">
            <a:spLocks noGrp="1"/>
          </p:cNvSpPr>
          <p:nvPr>
            <p:ph type="title"/>
          </p:nvPr>
        </p:nvSpPr>
        <p:spPr>
          <a:xfrm>
            <a:off x="839788" y="457200"/>
            <a:ext cx="3932237" cy="1600200"/>
          </a:xfrm>
          <a:prstGeom prst="rect">
            <a:avLst/>
          </a:prstGeom>
          <a:noFill/>
          <a:ln>
            <a:noFill/>
          </a:ln>
        </p:spPr>
        <p:txBody>
          <a:bodyPr spcFirstLastPara="1" wrap="square" lIns="91400" tIns="45675" rIns="91400" bIns="45675"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45"/>
          <p:cNvSpPr>
            <a:spLocks noGrp="1"/>
          </p:cNvSpPr>
          <p:nvPr>
            <p:ph type="pic" idx="2"/>
          </p:nvPr>
        </p:nvSpPr>
        <p:spPr>
          <a:xfrm>
            <a:off x="5183188" y="987437"/>
            <a:ext cx="6172200" cy="4873625"/>
          </a:xfrm>
          <a:prstGeom prst="rect">
            <a:avLst/>
          </a:prstGeom>
          <a:noFill/>
          <a:ln>
            <a:noFill/>
          </a:ln>
        </p:spPr>
      </p:sp>
      <p:sp>
        <p:nvSpPr>
          <p:cNvPr id="77" name="Google Shape;77;p45"/>
          <p:cNvSpPr txBox="1">
            <a:spLocks noGrp="1"/>
          </p:cNvSpPr>
          <p:nvPr>
            <p:ph type="body" idx="1"/>
          </p:nvPr>
        </p:nvSpPr>
        <p:spPr>
          <a:xfrm>
            <a:off x="839788" y="2057403"/>
            <a:ext cx="3932237" cy="3811588"/>
          </a:xfrm>
          <a:prstGeom prst="rect">
            <a:avLst/>
          </a:prstGeom>
          <a:noFill/>
          <a:ln>
            <a:noFill/>
          </a:ln>
        </p:spPr>
        <p:txBody>
          <a:bodyPr spcFirstLastPara="1" wrap="square" lIns="91400" tIns="45675" rIns="91400" bIns="45675"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5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100"/>
            </a:lvl4pPr>
            <a:lvl5pPr marL="2286000" lvl="4" indent="-228600" algn="l">
              <a:lnSpc>
                <a:spcPct val="90000"/>
              </a:lnSpc>
              <a:spcBef>
                <a:spcPts val="500"/>
              </a:spcBef>
              <a:spcAft>
                <a:spcPts val="0"/>
              </a:spcAft>
              <a:buClr>
                <a:schemeClr val="dk1"/>
              </a:buClr>
              <a:buSzPts val="1000"/>
              <a:buNone/>
              <a:defRPr sz="1100"/>
            </a:lvl5pPr>
            <a:lvl6pPr marL="2743200" lvl="5" indent="-228600" algn="l">
              <a:lnSpc>
                <a:spcPct val="90000"/>
              </a:lnSpc>
              <a:spcBef>
                <a:spcPts val="500"/>
              </a:spcBef>
              <a:spcAft>
                <a:spcPts val="0"/>
              </a:spcAft>
              <a:buClr>
                <a:schemeClr val="dk1"/>
              </a:buClr>
              <a:buSzPts val="1000"/>
              <a:buNone/>
              <a:defRPr sz="1100"/>
            </a:lvl6pPr>
            <a:lvl7pPr marL="3200400" lvl="6" indent="-228600" algn="l">
              <a:lnSpc>
                <a:spcPct val="90000"/>
              </a:lnSpc>
              <a:spcBef>
                <a:spcPts val="500"/>
              </a:spcBef>
              <a:spcAft>
                <a:spcPts val="0"/>
              </a:spcAft>
              <a:buClr>
                <a:schemeClr val="dk1"/>
              </a:buClr>
              <a:buSzPts val="1000"/>
              <a:buNone/>
              <a:defRPr sz="1100"/>
            </a:lvl7pPr>
            <a:lvl8pPr marL="3657600" lvl="7" indent="-228600" algn="l">
              <a:lnSpc>
                <a:spcPct val="90000"/>
              </a:lnSpc>
              <a:spcBef>
                <a:spcPts val="500"/>
              </a:spcBef>
              <a:spcAft>
                <a:spcPts val="0"/>
              </a:spcAft>
              <a:buClr>
                <a:schemeClr val="dk1"/>
              </a:buClr>
              <a:buSzPts val="1000"/>
              <a:buNone/>
              <a:defRPr sz="1100"/>
            </a:lvl8pPr>
            <a:lvl9pPr marL="4114800" lvl="8" indent="-228600" algn="l">
              <a:lnSpc>
                <a:spcPct val="90000"/>
              </a:lnSpc>
              <a:spcBef>
                <a:spcPts val="500"/>
              </a:spcBef>
              <a:spcAft>
                <a:spcPts val="0"/>
              </a:spcAft>
              <a:buClr>
                <a:schemeClr val="dk1"/>
              </a:buClr>
              <a:buSzPts val="1000"/>
              <a:buNone/>
              <a:defRPr sz="1100"/>
            </a:lvl9pPr>
          </a:lstStyle>
          <a:p>
            <a:endParaRPr/>
          </a:p>
        </p:txBody>
      </p:sp>
      <p:sp>
        <p:nvSpPr>
          <p:cNvPr id="78" name="Google Shape;78;p45"/>
          <p:cNvSpPr txBox="1">
            <a:spLocks noGrp="1"/>
          </p:cNvSpPr>
          <p:nvPr>
            <p:ph type="dt" idx="10"/>
          </p:nvPr>
        </p:nvSpPr>
        <p:spPr>
          <a:xfrm>
            <a:off x="838200" y="6356352"/>
            <a:ext cx="2743200" cy="365125"/>
          </a:xfrm>
          <a:prstGeom prst="rect">
            <a:avLst/>
          </a:prstGeom>
          <a:noFill/>
          <a:ln>
            <a:noFill/>
          </a:ln>
        </p:spPr>
        <p:txBody>
          <a:bodyPr spcFirstLastPara="1" wrap="square" lIns="91400" tIns="45675" rIns="91400" bIns="4567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45"/>
          <p:cNvSpPr txBox="1">
            <a:spLocks noGrp="1"/>
          </p:cNvSpPr>
          <p:nvPr>
            <p:ph type="ftr" idx="11"/>
          </p:nvPr>
        </p:nvSpPr>
        <p:spPr>
          <a:xfrm>
            <a:off x="4038600" y="6356352"/>
            <a:ext cx="4114800" cy="365125"/>
          </a:xfrm>
          <a:prstGeom prst="rect">
            <a:avLst/>
          </a:prstGeom>
          <a:noFill/>
          <a:ln>
            <a:noFill/>
          </a:ln>
        </p:spPr>
        <p:txBody>
          <a:bodyPr spcFirstLastPara="1" wrap="square" lIns="91400" tIns="45675" rIns="91400" bIns="4567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45"/>
          <p:cNvSpPr txBox="1">
            <a:spLocks noGrp="1"/>
          </p:cNvSpPr>
          <p:nvPr>
            <p:ph type="sldNum" idx="12"/>
          </p:nvPr>
        </p:nvSpPr>
        <p:spPr>
          <a:xfrm>
            <a:off x="8610600" y="6356352"/>
            <a:ext cx="2743200" cy="365125"/>
          </a:xfrm>
          <a:prstGeom prst="rect">
            <a:avLst/>
          </a:prstGeom>
          <a:noFill/>
          <a:ln>
            <a:noFill/>
          </a:ln>
        </p:spPr>
        <p:txBody>
          <a:bodyPr spcFirstLastPara="1" wrap="square" lIns="91400" tIns="45675" rIns="91400" bIns="45675"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46"/>
          <p:cNvSpPr txBox="1">
            <a:spLocks noGrp="1"/>
          </p:cNvSpPr>
          <p:nvPr>
            <p:ph type="title"/>
          </p:nvPr>
        </p:nvSpPr>
        <p:spPr>
          <a:xfrm>
            <a:off x="838200" y="365125"/>
            <a:ext cx="10515600" cy="1325563"/>
          </a:xfrm>
          <a:prstGeom prst="rect">
            <a:avLst/>
          </a:prstGeom>
          <a:noFill/>
          <a:ln>
            <a:noFill/>
          </a:ln>
        </p:spPr>
        <p:txBody>
          <a:bodyPr spcFirstLastPara="1" wrap="square" lIns="91400" tIns="45675" rIns="91400" bIns="45675"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46"/>
          <p:cNvSpPr txBox="1">
            <a:spLocks noGrp="1"/>
          </p:cNvSpPr>
          <p:nvPr>
            <p:ph type="body" idx="1"/>
          </p:nvPr>
        </p:nvSpPr>
        <p:spPr>
          <a:xfrm rot="5400000">
            <a:off x="3920333" y="-1256507"/>
            <a:ext cx="4351339" cy="10515600"/>
          </a:xfrm>
          <a:prstGeom prst="rect">
            <a:avLst/>
          </a:prstGeom>
          <a:noFill/>
          <a:ln>
            <a:noFill/>
          </a:ln>
        </p:spPr>
        <p:txBody>
          <a:bodyPr spcFirstLastPara="1" wrap="square" lIns="91400" tIns="45675" rIns="91400" bIns="45675"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46"/>
          <p:cNvSpPr txBox="1">
            <a:spLocks noGrp="1"/>
          </p:cNvSpPr>
          <p:nvPr>
            <p:ph type="dt" idx="10"/>
          </p:nvPr>
        </p:nvSpPr>
        <p:spPr>
          <a:xfrm>
            <a:off x="838200" y="6356352"/>
            <a:ext cx="2743200" cy="365125"/>
          </a:xfrm>
          <a:prstGeom prst="rect">
            <a:avLst/>
          </a:prstGeom>
          <a:noFill/>
          <a:ln>
            <a:noFill/>
          </a:ln>
        </p:spPr>
        <p:txBody>
          <a:bodyPr spcFirstLastPara="1" wrap="square" lIns="91400" tIns="45675" rIns="91400" bIns="4567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46"/>
          <p:cNvSpPr txBox="1">
            <a:spLocks noGrp="1"/>
          </p:cNvSpPr>
          <p:nvPr>
            <p:ph type="ftr" idx="11"/>
          </p:nvPr>
        </p:nvSpPr>
        <p:spPr>
          <a:xfrm>
            <a:off x="4038600" y="6356352"/>
            <a:ext cx="4114800" cy="365125"/>
          </a:xfrm>
          <a:prstGeom prst="rect">
            <a:avLst/>
          </a:prstGeom>
          <a:noFill/>
          <a:ln>
            <a:noFill/>
          </a:ln>
        </p:spPr>
        <p:txBody>
          <a:bodyPr spcFirstLastPara="1" wrap="square" lIns="91400" tIns="45675" rIns="91400" bIns="4567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46"/>
          <p:cNvSpPr txBox="1">
            <a:spLocks noGrp="1"/>
          </p:cNvSpPr>
          <p:nvPr>
            <p:ph type="sldNum" idx="12"/>
          </p:nvPr>
        </p:nvSpPr>
        <p:spPr>
          <a:xfrm>
            <a:off x="8610600" y="6356352"/>
            <a:ext cx="2743200" cy="365125"/>
          </a:xfrm>
          <a:prstGeom prst="rect">
            <a:avLst/>
          </a:prstGeom>
          <a:noFill/>
          <a:ln>
            <a:noFill/>
          </a:ln>
        </p:spPr>
        <p:txBody>
          <a:bodyPr spcFirstLastPara="1" wrap="square" lIns="91400" tIns="45675" rIns="91400" bIns="45675"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7"/>
        <p:cNvGrpSpPr/>
        <p:nvPr/>
      </p:nvGrpSpPr>
      <p:grpSpPr>
        <a:xfrm>
          <a:off x="0" y="0"/>
          <a:ext cx="0" cy="0"/>
          <a:chOff x="0" y="0"/>
          <a:chExt cx="0" cy="0"/>
        </a:xfrm>
      </p:grpSpPr>
      <p:sp>
        <p:nvSpPr>
          <p:cNvPr id="88" name="Google Shape;88;p47"/>
          <p:cNvSpPr txBox="1">
            <a:spLocks noGrp="1"/>
          </p:cNvSpPr>
          <p:nvPr>
            <p:ph type="title"/>
          </p:nvPr>
        </p:nvSpPr>
        <p:spPr>
          <a:xfrm rot="5400000">
            <a:off x="7133442" y="1956595"/>
            <a:ext cx="5811839" cy="2628900"/>
          </a:xfrm>
          <a:prstGeom prst="rect">
            <a:avLst/>
          </a:prstGeom>
          <a:noFill/>
          <a:ln>
            <a:noFill/>
          </a:ln>
        </p:spPr>
        <p:txBody>
          <a:bodyPr spcFirstLastPara="1" wrap="square" lIns="91400" tIns="45675" rIns="91400" bIns="45675"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9" name="Google Shape;89;p47"/>
          <p:cNvSpPr txBox="1">
            <a:spLocks noGrp="1"/>
          </p:cNvSpPr>
          <p:nvPr>
            <p:ph type="body" idx="1"/>
          </p:nvPr>
        </p:nvSpPr>
        <p:spPr>
          <a:xfrm rot="5400000">
            <a:off x="1799442" y="-596106"/>
            <a:ext cx="5811839" cy="7734300"/>
          </a:xfrm>
          <a:prstGeom prst="rect">
            <a:avLst/>
          </a:prstGeom>
          <a:noFill/>
          <a:ln>
            <a:noFill/>
          </a:ln>
        </p:spPr>
        <p:txBody>
          <a:bodyPr spcFirstLastPara="1" wrap="square" lIns="91400" tIns="45675" rIns="91400" bIns="45675"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0" name="Google Shape;90;p47"/>
          <p:cNvSpPr txBox="1">
            <a:spLocks noGrp="1"/>
          </p:cNvSpPr>
          <p:nvPr>
            <p:ph type="dt" idx="10"/>
          </p:nvPr>
        </p:nvSpPr>
        <p:spPr>
          <a:xfrm>
            <a:off x="838200" y="6356352"/>
            <a:ext cx="2743200" cy="365125"/>
          </a:xfrm>
          <a:prstGeom prst="rect">
            <a:avLst/>
          </a:prstGeom>
          <a:noFill/>
          <a:ln>
            <a:noFill/>
          </a:ln>
        </p:spPr>
        <p:txBody>
          <a:bodyPr spcFirstLastPara="1" wrap="square" lIns="91400" tIns="45675" rIns="91400" bIns="4567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1" name="Google Shape;91;p47"/>
          <p:cNvSpPr txBox="1">
            <a:spLocks noGrp="1"/>
          </p:cNvSpPr>
          <p:nvPr>
            <p:ph type="ftr" idx="11"/>
          </p:nvPr>
        </p:nvSpPr>
        <p:spPr>
          <a:xfrm>
            <a:off x="4038600" y="6356352"/>
            <a:ext cx="4114800" cy="365125"/>
          </a:xfrm>
          <a:prstGeom prst="rect">
            <a:avLst/>
          </a:prstGeom>
          <a:noFill/>
          <a:ln>
            <a:noFill/>
          </a:ln>
        </p:spPr>
        <p:txBody>
          <a:bodyPr spcFirstLastPara="1" wrap="square" lIns="91400" tIns="45675" rIns="91400" bIns="4567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47"/>
          <p:cNvSpPr txBox="1">
            <a:spLocks noGrp="1"/>
          </p:cNvSpPr>
          <p:nvPr>
            <p:ph type="sldNum" idx="12"/>
          </p:nvPr>
        </p:nvSpPr>
        <p:spPr>
          <a:xfrm>
            <a:off x="8610600" y="6356352"/>
            <a:ext cx="2743200" cy="365125"/>
          </a:xfrm>
          <a:prstGeom prst="rect">
            <a:avLst/>
          </a:prstGeom>
          <a:noFill/>
          <a:ln>
            <a:noFill/>
          </a:ln>
        </p:spPr>
        <p:txBody>
          <a:bodyPr spcFirstLastPara="1" wrap="square" lIns="91400" tIns="45675" rIns="91400" bIns="45675"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35"/>
          <p:cNvSpPr txBox="1">
            <a:spLocks noGrp="1"/>
          </p:cNvSpPr>
          <p:nvPr>
            <p:ph type="title"/>
          </p:nvPr>
        </p:nvSpPr>
        <p:spPr>
          <a:xfrm>
            <a:off x="838200" y="365125"/>
            <a:ext cx="10515600" cy="1325563"/>
          </a:xfrm>
          <a:prstGeom prst="rect">
            <a:avLst/>
          </a:prstGeom>
          <a:noFill/>
          <a:ln>
            <a:noFill/>
          </a:ln>
        </p:spPr>
        <p:txBody>
          <a:bodyPr spcFirstLastPara="1" wrap="square" lIns="91400" tIns="45675" rIns="91400" bIns="45675"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35"/>
          <p:cNvSpPr txBox="1">
            <a:spLocks noGrp="1"/>
          </p:cNvSpPr>
          <p:nvPr>
            <p:ph type="body" idx="1"/>
          </p:nvPr>
        </p:nvSpPr>
        <p:spPr>
          <a:xfrm>
            <a:off x="838200" y="1825625"/>
            <a:ext cx="10515600" cy="4351339"/>
          </a:xfrm>
          <a:prstGeom prst="rect">
            <a:avLst/>
          </a:prstGeom>
          <a:noFill/>
          <a:ln>
            <a:noFill/>
          </a:ln>
        </p:spPr>
        <p:txBody>
          <a:bodyPr spcFirstLastPara="1" wrap="square" lIns="91400" tIns="45675" rIns="91400" bIns="45675"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35"/>
          <p:cNvSpPr txBox="1">
            <a:spLocks noGrp="1"/>
          </p:cNvSpPr>
          <p:nvPr>
            <p:ph type="dt" idx="10"/>
          </p:nvPr>
        </p:nvSpPr>
        <p:spPr>
          <a:xfrm>
            <a:off x="838200" y="6356352"/>
            <a:ext cx="2743200" cy="365125"/>
          </a:xfrm>
          <a:prstGeom prst="rect">
            <a:avLst/>
          </a:prstGeom>
          <a:noFill/>
          <a:ln>
            <a:noFill/>
          </a:ln>
        </p:spPr>
        <p:txBody>
          <a:bodyPr spcFirstLastPara="1" wrap="square" lIns="91400" tIns="45675" rIns="91400" bIns="45675"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9pPr>
          </a:lstStyle>
          <a:p>
            <a:endParaRPr/>
          </a:p>
        </p:txBody>
      </p:sp>
      <p:sp>
        <p:nvSpPr>
          <p:cNvPr id="13" name="Google Shape;13;p35"/>
          <p:cNvSpPr txBox="1">
            <a:spLocks noGrp="1"/>
          </p:cNvSpPr>
          <p:nvPr>
            <p:ph type="ftr" idx="11"/>
          </p:nvPr>
        </p:nvSpPr>
        <p:spPr>
          <a:xfrm>
            <a:off x="4038600" y="6356352"/>
            <a:ext cx="4114800" cy="365125"/>
          </a:xfrm>
          <a:prstGeom prst="rect">
            <a:avLst/>
          </a:prstGeom>
          <a:noFill/>
          <a:ln>
            <a:noFill/>
          </a:ln>
        </p:spPr>
        <p:txBody>
          <a:bodyPr spcFirstLastPara="1" wrap="square" lIns="91400" tIns="45675" rIns="91400" bIns="45675"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9pPr>
          </a:lstStyle>
          <a:p>
            <a:endParaRPr/>
          </a:p>
        </p:txBody>
      </p:sp>
      <p:sp>
        <p:nvSpPr>
          <p:cNvPr id="14" name="Google Shape;14;p35"/>
          <p:cNvSpPr txBox="1">
            <a:spLocks noGrp="1"/>
          </p:cNvSpPr>
          <p:nvPr>
            <p:ph type="sldNum" idx="12"/>
          </p:nvPr>
        </p:nvSpPr>
        <p:spPr>
          <a:xfrm>
            <a:off x="8610600" y="6356352"/>
            <a:ext cx="2743200" cy="365125"/>
          </a:xfrm>
          <a:prstGeom prst="rect">
            <a:avLst/>
          </a:prstGeom>
          <a:noFill/>
          <a:ln>
            <a:noFill/>
          </a:ln>
        </p:spPr>
        <p:txBody>
          <a:bodyPr spcFirstLastPara="1" wrap="square" lIns="91400" tIns="45675" rIns="91400" bIns="45675"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5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52" r:id="rId1"/>
    <p:sldLayoutId id="2147483655" r:id="rId2"/>
    <p:sldLayoutId id="2147483657" r:id="rId3"/>
    <p:sldLayoutId id="2147483658" r:id="rId4"/>
    <p:sldLayoutId id="2147483659" r:id="rId5"/>
    <p:sldLayoutId id="2147483660" r:id="rId6"/>
    <p:sldLayoutId id="2147483661"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web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98;p2"/>
          <p:cNvSpPr txBox="1"/>
          <p:nvPr/>
        </p:nvSpPr>
        <p:spPr>
          <a:xfrm>
            <a:off x="-1" y="701742"/>
            <a:ext cx="12191999" cy="492400"/>
          </a:xfrm>
          <a:prstGeom prst="rect">
            <a:avLst/>
          </a:prstGeom>
          <a:noFill/>
          <a:ln>
            <a:noFill/>
          </a:ln>
        </p:spPr>
        <p:txBody>
          <a:bodyPr spcFirstLastPara="1" wrap="square" lIns="121875" tIns="60925" rIns="121875" bIns="60925" anchor="t" anchorCtr="0">
            <a:spAutoFit/>
          </a:bodyPr>
          <a:lstStyle/>
          <a:p>
            <a:pPr marL="0" marR="0" lvl="0" indent="0" algn="l" rtl="0">
              <a:lnSpc>
                <a:spcPct val="100000"/>
              </a:lnSpc>
              <a:spcBef>
                <a:spcPts val="0"/>
              </a:spcBef>
              <a:spcAft>
                <a:spcPts val="0"/>
              </a:spcAft>
              <a:buNone/>
            </a:pPr>
            <a:endParaRPr sz="2400" b="0" i="0" u="none" strike="noStrike" cap="none" dirty="0">
              <a:solidFill>
                <a:srgbClr val="000000"/>
              </a:solidFill>
              <a:latin typeface="Times New Roman"/>
              <a:ea typeface="Times New Roman"/>
              <a:cs typeface="Times New Roman"/>
              <a:sym typeface="Times New Roman"/>
            </a:endParaRPr>
          </a:p>
        </p:txBody>
      </p:sp>
      <p:pic>
        <p:nvPicPr>
          <p:cNvPr id="5" name="Google Shape;99;p2"/>
          <p:cNvPicPr preferRelativeResize="0"/>
          <p:nvPr/>
        </p:nvPicPr>
        <p:blipFill rotWithShape="1">
          <a:blip r:embed="rId2">
            <a:alphaModFix/>
          </a:blip>
          <a:srcRect/>
          <a:stretch/>
        </p:blipFill>
        <p:spPr>
          <a:xfrm>
            <a:off x="14086508" y="11637873"/>
            <a:ext cx="158226" cy="163709"/>
          </a:xfrm>
          <a:prstGeom prst="rect">
            <a:avLst/>
          </a:prstGeom>
          <a:noFill/>
          <a:ln>
            <a:noFill/>
          </a:ln>
        </p:spPr>
      </p:pic>
      <p:sp>
        <p:nvSpPr>
          <p:cNvPr id="8" name="AutoShape 4" descr="DALL·E 2024-11-21 08.42.52 - A futuristic and visually appealing train designed for technology projects, with a sleek and modern design, surrounded by a professional and clean bac.webp">
            <a:extLst>
              <a:ext uri="{FF2B5EF4-FFF2-40B4-BE49-F238E27FC236}">
                <a16:creationId xmlns:a16="http://schemas.microsoft.com/office/drawing/2014/main" id="{9A5763A6-5270-B507-E200-86C83BFA5A70}"/>
              </a:ext>
            </a:extLst>
          </p:cNvPr>
          <p:cNvSpPr>
            <a:spLocks noChangeAspect="1" noChangeArrowheads="1"/>
          </p:cNvSpPr>
          <p:nvPr/>
        </p:nvSpPr>
        <p:spPr bwMode="auto">
          <a:xfrm>
            <a:off x="3300414" y="1480008"/>
            <a:ext cx="5077932" cy="511129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6" name="Picture 5">
            <a:extLst>
              <a:ext uri="{FF2B5EF4-FFF2-40B4-BE49-F238E27FC236}">
                <a16:creationId xmlns:a16="http://schemas.microsoft.com/office/drawing/2014/main" id="{1CED583E-7DCB-F6D2-C846-964F9FEB4960}"/>
              </a:ext>
            </a:extLst>
          </p:cNvPr>
          <p:cNvPicPr>
            <a:picLocks noChangeAspect="1"/>
          </p:cNvPicPr>
          <p:nvPr/>
        </p:nvPicPr>
        <p:blipFill>
          <a:blip r:embed="rId3"/>
          <a:stretch>
            <a:fillRect/>
          </a:stretch>
        </p:blipFill>
        <p:spPr>
          <a:xfrm>
            <a:off x="0" y="0"/>
            <a:ext cx="12191998" cy="6858000"/>
          </a:xfrm>
          <a:prstGeom prst="rect">
            <a:avLst/>
          </a:prstGeom>
        </p:spPr>
      </p:pic>
    </p:spTree>
    <p:extLst>
      <p:ext uri="{BB962C8B-B14F-4D97-AF65-F5344CB8AC3E}">
        <p14:creationId xmlns:p14="http://schemas.microsoft.com/office/powerpoint/2010/main" val="23503155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A248F65-BC28-655E-3F9F-489945C586A4}"/>
              </a:ext>
            </a:extLst>
          </p:cNvPr>
          <p:cNvSpPr txBox="1"/>
          <p:nvPr/>
        </p:nvSpPr>
        <p:spPr>
          <a:xfrm>
            <a:off x="0" y="1206967"/>
            <a:ext cx="12191999" cy="4216539"/>
          </a:xfrm>
          <a:prstGeom prst="rect">
            <a:avLst/>
          </a:prstGeom>
          <a:noFill/>
        </p:spPr>
        <p:txBody>
          <a:bodyPr wrap="square">
            <a:spAutoFit/>
          </a:bodyPr>
          <a:lstStyle/>
          <a:p>
            <a:pPr marL="571500" indent="-571500" algn="ctr" rtl="0">
              <a:buFont typeface="Wingdings" panose="05000000000000000000" pitchFamily="2" charset="2"/>
              <a:buChar char="q"/>
            </a:pPr>
            <a:r>
              <a:rPr lang="en-US" sz="4400" b="1" i="0" u="none" strike="noStrike" dirty="0">
                <a:solidFill>
                  <a:schemeClr val="tx1"/>
                </a:solidFill>
                <a:effectLst/>
                <a:latin typeface="Arial" panose="020B0604020202020204" pitchFamily="34" charset="0"/>
              </a:rPr>
              <a:t>CONTENTS</a:t>
            </a:r>
          </a:p>
          <a:p>
            <a:pPr marL="880110" indent="-457200" rtl="0" fontAlgn="base">
              <a:buFont typeface="Arial" panose="020B0604020202020204" pitchFamily="34" charset="0"/>
              <a:buChar char="•"/>
            </a:pPr>
            <a:r>
              <a:rPr lang="en-US" sz="2800" dirty="0">
                <a:solidFill>
                  <a:schemeClr val="bg2"/>
                </a:solidFill>
                <a:latin typeface="Arial" panose="020B0604020202020204" pitchFamily="34" charset="0"/>
              </a:rPr>
              <a:t> BUSINESS OBJECTIVE</a:t>
            </a:r>
            <a:endParaRPr lang="en-US" sz="2800" b="0" i="0" u="none" strike="noStrike" dirty="0">
              <a:solidFill>
                <a:schemeClr val="bg2"/>
              </a:solidFill>
              <a:effectLst/>
              <a:latin typeface="Arial" panose="020B0604020202020204" pitchFamily="34" charset="0"/>
            </a:endParaRPr>
          </a:p>
          <a:p>
            <a:pPr marL="880110" indent="-457200" rtl="0" fontAlgn="base">
              <a:buFont typeface="Arial" panose="020B0604020202020204" pitchFamily="34" charset="0"/>
              <a:buChar char="•"/>
            </a:pPr>
            <a:r>
              <a:rPr lang="en-US" sz="2800" b="0" i="0" u="none" strike="noStrike" dirty="0">
                <a:solidFill>
                  <a:schemeClr val="bg2"/>
                </a:solidFill>
                <a:effectLst/>
                <a:latin typeface="Arial" panose="020B0604020202020204" pitchFamily="34" charset="0"/>
              </a:rPr>
              <a:t> BUSINESS CONSTRAINTS</a:t>
            </a:r>
          </a:p>
          <a:p>
            <a:pPr marL="880110" indent="-457200" rtl="0" fontAlgn="base">
              <a:buFont typeface="Arial" panose="020B0604020202020204" pitchFamily="34" charset="0"/>
              <a:buChar char="•"/>
            </a:pPr>
            <a:r>
              <a:rPr lang="en-US" sz="2800" b="0" i="0" u="none" strike="noStrike" dirty="0">
                <a:solidFill>
                  <a:schemeClr val="bg2"/>
                </a:solidFill>
                <a:effectLst/>
                <a:latin typeface="Arial" panose="020B0604020202020204" pitchFamily="34" charset="0"/>
              </a:rPr>
              <a:t> </a:t>
            </a:r>
            <a:r>
              <a:rPr lang="en-IN" sz="2800" dirty="0">
                <a:solidFill>
                  <a:schemeClr val="bg2"/>
                </a:solidFill>
              </a:rPr>
              <a:t>PROJECT WORKFLOW</a:t>
            </a:r>
            <a:endParaRPr lang="en-US" sz="2800" b="0" i="0" u="none" strike="noStrike" dirty="0">
              <a:solidFill>
                <a:schemeClr val="bg2"/>
              </a:solidFill>
              <a:effectLst/>
              <a:latin typeface="Arial" panose="020B0604020202020204" pitchFamily="34" charset="0"/>
            </a:endParaRPr>
          </a:p>
          <a:p>
            <a:pPr marL="880110" indent="-457200" rtl="0" fontAlgn="base">
              <a:buFont typeface="Arial" panose="020B0604020202020204" pitchFamily="34" charset="0"/>
              <a:buChar char="•"/>
            </a:pPr>
            <a:r>
              <a:rPr lang="en-US" sz="2800" dirty="0">
                <a:solidFill>
                  <a:schemeClr val="bg2"/>
                </a:solidFill>
                <a:latin typeface="Arial" panose="020B0604020202020204" pitchFamily="34" charset="0"/>
              </a:rPr>
              <a:t> </a:t>
            </a:r>
            <a:r>
              <a:rPr lang="en-US" sz="2800" b="0" i="0" u="none" strike="noStrike" dirty="0">
                <a:solidFill>
                  <a:schemeClr val="bg2"/>
                </a:solidFill>
                <a:effectLst/>
                <a:latin typeface="Arial" panose="020B0604020202020204" pitchFamily="34" charset="0"/>
              </a:rPr>
              <a:t>PROJECT ARCHITECTURE</a:t>
            </a:r>
          </a:p>
          <a:p>
            <a:pPr marL="880110" indent="-457200" rtl="0" fontAlgn="base">
              <a:buFont typeface="Arial" panose="020B0604020202020204" pitchFamily="34" charset="0"/>
              <a:buChar char="•"/>
            </a:pPr>
            <a:r>
              <a:rPr lang="en-US" sz="2800" dirty="0">
                <a:solidFill>
                  <a:schemeClr val="bg2"/>
                </a:solidFill>
                <a:latin typeface="Arial" panose="020B0604020202020204" pitchFamily="34" charset="0"/>
              </a:rPr>
              <a:t> DATA COLLECTION</a:t>
            </a:r>
            <a:endParaRPr lang="en-US" sz="2800" b="0" i="0" u="none" strike="noStrike" dirty="0">
              <a:solidFill>
                <a:schemeClr val="bg2"/>
              </a:solidFill>
              <a:effectLst/>
              <a:latin typeface="Arial" panose="020B0604020202020204" pitchFamily="34" charset="0"/>
            </a:endParaRPr>
          </a:p>
          <a:p>
            <a:pPr marL="880110" indent="-457200" rtl="0" fontAlgn="base">
              <a:buFont typeface="Arial" panose="020B0604020202020204" pitchFamily="34" charset="0"/>
              <a:buChar char="•"/>
            </a:pPr>
            <a:r>
              <a:rPr lang="en-US" sz="2800" b="0" i="0" u="none" strike="noStrike" dirty="0">
                <a:solidFill>
                  <a:schemeClr val="bg2"/>
                </a:solidFill>
                <a:effectLst/>
                <a:latin typeface="Arial" panose="020B0604020202020204" pitchFamily="34" charset="0"/>
              </a:rPr>
              <a:t> DATA PREPROCESSING</a:t>
            </a:r>
          </a:p>
          <a:p>
            <a:pPr marL="880110" indent="-457200" rtl="0" fontAlgn="base">
              <a:buFont typeface="Arial" panose="020B0604020202020204" pitchFamily="34" charset="0"/>
              <a:buChar char="•"/>
            </a:pPr>
            <a:r>
              <a:rPr lang="en-US" sz="2800" b="0" i="0" u="none" strike="noStrike" dirty="0">
                <a:solidFill>
                  <a:schemeClr val="bg2"/>
                </a:solidFill>
                <a:effectLst/>
                <a:latin typeface="Arial" panose="020B0604020202020204" pitchFamily="34" charset="0"/>
              </a:rPr>
              <a:t> </a:t>
            </a:r>
            <a:r>
              <a:rPr lang="en-US" sz="2800" dirty="0">
                <a:solidFill>
                  <a:schemeClr val="bg2"/>
                </a:solidFill>
                <a:latin typeface="Arial" panose="020B0604020202020204" pitchFamily="34" charset="0"/>
              </a:rPr>
              <a:t>KEY</a:t>
            </a:r>
            <a:r>
              <a:rPr lang="en-US" sz="2800" b="0" i="0" u="none" strike="noStrike" dirty="0">
                <a:solidFill>
                  <a:schemeClr val="bg2"/>
                </a:solidFill>
                <a:effectLst/>
                <a:latin typeface="Arial" panose="020B0604020202020204" pitchFamily="34" charset="0"/>
              </a:rPr>
              <a:t> CHALLENGES</a:t>
            </a:r>
          </a:p>
          <a:p>
            <a:pPr marL="880110" indent="-457200" rtl="0" fontAlgn="base">
              <a:buFont typeface="Arial" panose="020B0604020202020204" pitchFamily="34" charset="0"/>
              <a:buChar char="•"/>
            </a:pPr>
            <a:r>
              <a:rPr lang="en-US" sz="2800" b="0" i="0" u="none" strike="noStrike" dirty="0">
                <a:solidFill>
                  <a:schemeClr val="bg2"/>
                </a:solidFill>
                <a:effectLst/>
                <a:latin typeface="Arial" panose="020B0604020202020204" pitchFamily="34" charset="0"/>
              </a:rPr>
              <a:t> CONCLUSION</a:t>
            </a:r>
          </a:p>
        </p:txBody>
      </p:sp>
      <p:pic>
        <p:nvPicPr>
          <p:cNvPr id="3" name="Picture 2">
            <a:extLst>
              <a:ext uri="{FF2B5EF4-FFF2-40B4-BE49-F238E27FC236}">
                <a16:creationId xmlns:a16="http://schemas.microsoft.com/office/drawing/2014/main" id="{BA03AE2F-BA7F-1298-A4E8-89619CB15A1E}"/>
              </a:ext>
            </a:extLst>
          </p:cNvPr>
          <p:cNvPicPr>
            <a:picLocks noChangeAspect="1"/>
          </p:cNvPicPr>
          <p:nvPr/>
        </p:nvPicPr>
        <p:blipFill>
          <a:blip r:embed="rId2"/>
          <a:stretch>
            <a:fillRect/>
          </a:stretch>
        </p:blipFill>
        <p:spPr>
          <a:xfrm>
            <a:off x="9844087" y="5651032"/>
            <a:ext cx="2347911" cy="1206967"/>
          </a:xfrm>
          <a:prstGeom prst="rect">
            <a:avLst/>
          </a:prstGeom>
        </p:spPr>
      </p:pic>
    </p:spTree>
    <p:extLst>
      <p:ext uri="{BB962C8B-B14F-4D97-AF65-F5344CB8AC3E}">
        <p14:creationId xmlns:p14="http://schemas.microsoft.com/office/powerpoint/2010/main" val="38198686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47F297-8DBD-B7F7-F024-43DD7BB94EC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AE873BA-5138-2B28-A20F-71270046F86D}"/>
              </a:ext>
            </a:extLst>
          </p:cNvPr>
          <p:cNvSpPr txBox="1"/>
          <p:nvPr/>
        </p:nvSpPr>
        <p:spPr>
          <a:xfrm>
            <a:off x="75414" y="2271713"/>
            <a:ext cx="12116585" cy="3970318"/>
          </a:xfrm>
          <a:prstGeom prst="rect">
            <a:avLst/>
          </a:prstGeom>
          <a:noFill/>
        </p:spPr>
        <p:txBody>
          <a:bodyPr wrap="square">
            <a:spAutoFit/>
          </a:bodyPr>
          <a:lstStyle/>
          <a:p>
            <a:r>
              <a:rPr lang="en-US" sz="3600" dirty="0"/>
              <a:t> A leading steel manufacturer is facing challenges in accurately determining the most efficient steel grades based on energy consumption, production speed, and overall productivity. The absence of precise classification limits their ability to optimize manufacturing processes, streamline operations, and achieve cost savings.</a:t>
            </a:r>
          </a:p>
          <a:p>
            <a:r>
              <a:rPr lang="en-US" sz="3600" dirty="0"/>
              <a:t>Business Objective:Maximize Product Efficiency.</a:t>
            </a:r>
            <a:endParaRPr lang="en-IN" sz="2800" dirty="0">
              <a:solidFill>
                <a:schemeClr val="bg2"/>
              </a:solidFill>
            </a:endParaRPr>
          </a:p>
        </p:txBody>
      </p:sp>
      <p:sp>
        <p:nvSpPr>
          <p:cNvPr id="5" name="TextBox 4">
            <a:extLst>
              <a:ext uri="{FF2B5EF4-FFF2-40B4-BE49-F238E27FC236}">
                <a16:creationId xmlns:a16="http://schemas.microsoft.com/office/drawing/2014/main" id="{07717DBF-A8D6-2B4F-F79B-3050E08B6078}"/>
              </a:ext>
            </a:extLst>
          </p:cNvPr>
          <p:cNvSpPr txBox="1"/>
          <p:nvPr/>
        </p:nvSpPr>
        <p:spPr>
          <a:xfrm>
            <a:off x="1" y="785046"/>
            <a:ext cx="12192000" cy="1200329"/>
          </a:xfrm>
          <a:prstGeom prst="rect">
            <a:avLst/>
          </a:prstGeom>
          <a:noFill/>
        </p:spPr>
        <p:txBody>
          <a:bodyPr wrap="square">
            <a:spAutoFit/>
          </a:bodyPr>
          <a:lstStyle/>
          <a:p>
            <a:pPr marL="571500" indent="-571500" algn="ctr" rtl="0">
              <a:buFont typeface="Wingdings" panose="05000000000000000000" pitchFamily="2" charset="2"/>
              <a:buChar char="q"/>
            </a:pPr>
            <a:r>
              <a:rPr lang="en-IN" sz="4400" b="1" i="0" u="none" strike="noStrike" dirty="0">
                <a:solidFill>
                  <a:schemeClr val="bg2"/>
                </a:solidFill>
                <a:effectLst/>
                <a:latin typeface="Arial" panose="020B0604020202020204" pitchFamily="34" charset="0"/>
              </a:rPr>
              <a:t>BUSINESS PROBLEM</a:t>
            </a:r>
            <a:endParaRPr lang="en-IN" sz="4400" b="1" dirty="0">
              <a:solidFill>
                <a:schemeClr val="bg2"/>
              </a:solidFill>
              <a:effectLst/>
            </a:endParaRPr>
          </a:p>
          <a:p>
            <a:br>
              <a:rPr lang="en-IN" dirty="0"/>
            </a:br>
            <a:endParaRPr lang="en-IN" dirty="0"/>
          </a:p>
        </p:txBody>
      </p:sp>
      <p:pic>
        <p:nvPicPr>
          <p:cNvPr id="4" name="Picture 3">
            <a:extLst>
              <a:ext uri="{FF2B5EF4-FFF2-40B4-BE49-F238E27FC236}">
                <a16:creationId xmlns:a16="http://schemas.microsoft.com/office/drawing/2014/main" id="{9D1B30B6-2535-23A6-4B90-08F0A3BAB1FD}"/>
              </a:ext>
            </a:extLst>
          </p:cNvPr>
          <p:cNvPicPr>
            <a:picLocks noChangeAspect="1"/>
          </p:cNvPicPr>
          <p:nvPr/>
        </p:nvPicPr>
        <p:blipFill>
          <a:blip r:embed="rId2"/>
          <a:stretch>
            <a:fillRect/>
          </a:stretch>
        </p:blipFill>
        <p:spPr>
          <a:xfrm>
            <a:off x="9229725" y="6134926"/>
            <a:ext cx="2962275" cy="723074"/>
          </a:xfrm>
          <a:prstGeom prst="rect">
            <a:avLst/>
          </a:prstGeom>
        </p:spPr>
      </p:pic>
    </p:spTree>
    <p:extLst>
      <p:ext uri="{BB962C8B-B14F-4D97-AF65-F5344CB8AC3E}">
        <p14:creationId xmlns:p14="http://schemas.microsoft.com/office/powerpoint/2010/main" val="38527158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CD30C98-73F7-664D-86D9-2F9387876DB9}"/>
              </a:ext>
            </a:extLst>
          </p:cNvPr>
          <p:cNvSpPr txBox="1"/>
          <p:nvPr/>
        </p:nvSpPr>
        <p:spPr>
          <a:xfrm>
            <a:off x="428625" y="671512"/>
            <a:ext cx="11530013" cy="4401205"/>
          </a:xfrm>
          <a:prstGeom prst="rect">
            <a:avLst/>
          </a:prstGeom>
          <a:noFill/>
        </p:spPr>
        <p:txBody>
          <a:bodyPr wrap="square">
            <a:spAutoFit/>
          </a:bodyPr>
          <a:lstStyle/>
          <a:p>
            <a:pPr rtl="0"/>
            <a:r>
              <a:rPr lang="en-US" sz="4400" b="1" i="0" u="none" strike="noStrike" dirty="0">
                <a:solidFill>
                  <a:schemeClr val="bg2"/>
                </a:solidFill>
                <a:effectLst/>
                <a:latin typeface="Arial" panose="020B0604020202020204" pitchFamily="34" charset="0"/>
              </a:rPr>
              <a:t>OBJECTIVE:</a:t>
            </a:r>
            <a:endParaRPr lang="en-US" sz="4400" b="1" dirty="0">
              <a:solidFill>
                <a:schemeClr val="bg2"/>
              </a:solidFill>
              <a:effectLst/>
            </a:endParaRPr>
          </a:p>
          <a:p>
            <a:pPr rtl="0"/>
            <a:br>
              <a:rPr lang="en-US" b="0" dirty="0">
                <a:solidFill>
                  <a:schemeClr val="bg2"/>
                </a:solidFill>
                <a:effectLst/>
              </a:rPr>
            </a:br>
            <a:r>
              <a:rPr lang="en-US" sz="3600" dirty="0"/>
              <a:t>Maximize Product Efficiency.</a:t>
            </a:r>
            <a:br>
              <a:rPr lang="en-US" b="0" dirty="0">
                <a:solidFill>
                  <a:schemeClr val="bg2"/>
                </a:solidFill>
                <a:effectLst/>
              </a:rPr>
            </a:br>
            <a:r>
              <a:rPr lang="en-US" sz="3200" b="0" i="0" u="none" strike="noStrike" dirty="0">
                <a:solidFill>
                  <a:schemeClr val="bg2"/>
                </a:solidFill>
                <a:effectLst/>
                <a:latin typeface="Arial" panose="020B0604020202020204" pitchFamily="34" charset="0"/>
              </a:rPr>
              <a:t> </a:t>
            </a:r>
          </a:p>
          <a:p>
            <a:pPr rtl="0"/>
            <a:endParaRPr lang="en-US" sz="3200" dirty="0">
              <a:solidFill>
                <a:schemeClr val="bg2"/>
              </a:solidFill>
              <a:latin typeface="Arial" panose="020B0604020202020204" pitchFamily="34" charset="0"/>
            </a:endParaRPr>
          </a:p>
          <a:p>
            <a:pPr rtl="0"/>
            <a:r>
              <a:rPr lang="en-US" sz="4400" b="1" i="0" u="none" strike="noStrike" dirty="0">
                <a:solidFill>
                  <a:schemeClr val="bg2"/>
                </a:solidFill>
                <a:effectLst/>
                <a:latin typeface="Arial" panose="020B0604020202020204" pitchFamily="34" charset="0"/>
              </a:rPr>
              <a:t>CONSTRAINT:</a:t>
            </a:r>
            <a:endParaRPr lang="en-US" sz="4400" b="1" dirty="0">
              <a:solidFill>
                <a:schemeClr val="bg2"/>
              </a:solidFill>
              <a:effectLst/>
            </a:endParaRPr>
          </a:p>
          <a:p>
            <a:pPr rtl="0"/>
            <a:br>
              <a:rPr lang="en-US" sz="2800" b="0" dirty="0">
                <a:solidFill>
                  <a:schemeClr val="bg2"/>
                </a:solidFill>
                <a:effectLst/>
              </a:rPr>
            </a:br>
            <a:r>
              <a:rPr lang="en-US" sz="3600" dirty="0"/>
              <a:t>Minimize the energy consumption and cycle time</a:t>
            </a:r>
            <a:r>
              <a:rPr lang="en-IN" sz="3600" dirty="0"/>
              <a:t>.</a:t>
            </a:r>
            <a:br>
              <a:rPr lang="en-US" dirty="0">
                <a:solidFill>
                  <a:schemeClr val="bg2"/>
                </a:solidFill>
              </a:rPr>
            </a:br>
            <a:endParaRPr lang="en-IN" dirty="0">
              <a:solidFill>
                <a:schemeClr val="bg2"/>
              </a:solidFill>
            </a:endParaRPr>
          </a:p>
        </p:txBody>
      </p:sp>
      <p:pic>
        <p:nvPicPr>
          <p:cNvPr id="3" name="Picture 2">
            <a:extLst>
              <a:ext uri="{FF2B5EF4-FFF2-40B4-BE49-F238E27FC236}">
                <a16:creationId xmlns:a16="http://schemas.microsoft.com/office/drawing/2014/main" id="{C0011529-7E52-E677-03FF-373F793601FA}"/>
              </a:ext>
            </a:extLst>
          </p:cNvPr>
          <p:cNvPicPr>
            <a:picLocks noChangeAspect="1"/>
          </p:cNvPicPr>
          <p:nvPr/>
        </p:nvPicPr>
        <p:blipFill>
          <a:blip r:embed="rId2"/>
          <a:stretch>
            <a:fillRect/>
          </a:stretch>
        </p:blipFill>
        <p:spPr>
          <a:xfrm>
            <a:off x="10287000" y="5678567"/>
            <a:ext cx="1905000" cy="1015842"/>
          </a:xfrm>
          <a:prstGeom prst="rect">
            <a:avLst/>
          </a:prstGeom>
        </p:spPr>
      </p:pic>
    </p:spTree>
    <p:extLst>
      <p:ext uri="{BB962C8B-B14F-4D97-AF65-F5344CB8AC3E}">
        <p14:creationId xmlns:p14="http://schemas.microsoft.com/office/powerpoint/2010/main" val="15555262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E2036F-A507-6AB4-2E4F-43386B38DF3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FCEE328-82BF-AC81-6ADC-6E27D0064C59}"/>
              </a:ext>
            </a:extLst>
          </p:cNvPr>
          <p:cNvSpPr txBox="1"/>
          <p:nvPr/>
        </p:nvSpPr>
        <p:spPr>
          <a:xfrm>
            <a:off x="33338" y="-514349"/>
            <a:ext cx="12125324" cy="7355860"/>
          </a:xfrm>
          <a:prstGeom prst="rect">
            <a:avLst/>
          </a:prstGeom>
          <a:noFill/>
        </p:spPr>
        <p:txBody>
          <a:bodyPr wrap="square">
            <a:spAutoFit/>
          </a:bodyPr>
          <a:lstStyle/>
          <a:p>
            <a:pPr marL="571500" indent="-571500">
              <a:buFont typeface="Arial" panose="020B0604020202020204" pitchFamily="34" charset="0"/>
              <a:buChar char="•"/>
            </a:pPr>
            <a:endParaRPr lang="en-US" sz="3600" b="1" dirty="0">
              <a:solidFill>
                <a:schemeClr val="bg2"/>
              </a:solidFill>
            </a:endParaRPr>
          </a:p>
          <a:p>
            <a:pPr marL="571500" indent="-571500">
              <a:buFont typeface="Arial" panose="020B0604020202020204" pitchFamily="34" charset="0"/>
              <a:buChar char="•"/>
            </a:pPr>
            <a:endParaRPr lang="en-US" sz="3600" b="1" dirty="0">
              <a:solidFill>
                <a:schemeClr val="bg2"/>
              </a:solidFill>
            </a:endParaRPr>
          </a:p>
          <a:p>
            <a:pPr marL="571500" indent="-571500">
              <a:buFont typeface="Arial" panose="020B0604020202020204" pitchFamily="34" charset="0"/>
              <a:buChar char="•"/>
            </a:pPr>
            <a:r>
              <a:rPr lang="en-US" sz="3600" b="1" dirty="0">
                <a:solidFill>
                  <a:schemeClr val="bg2"/>
                </a:solidFill>
              </a:rPr>
              <a:t>PROJECT WORKFLOW </a:t>
            </a:r>
          </a:p>
          <a:p>
            <a:pPr marL="571500" indent="-571500">
              <a:buFont typeface="Arial" panose="020B0604020202020204" pitchFamily="34" charset="0"/>
              <a:buChar char="•"/>
            </a:pPr>
            <a:r>
              <a:rPr lang="en-US" sz="3600" dirty="0">
                <a:solidFill>
                  <a:schemeClr val="bg2"/>
                </a:solidFill>
              </a:rPr>
              <a:t>CRISP-ML(Q) Methodology</a:t>
            </a:r>
          </a:p>
          <a:p>
            <a:pPr rtl="0"/>
            <a:r>
              <a:rPr lang="en-US" sz="3600" dirty="0">
                <a:solidFill>
                  <a:schemeClr val="bg2"/>
                </a:solidFill>
              </a:rPr>
              <a:t>There are six stages of CRISP-ML(Q) Methodology</a:t>
            </a:r>
          </a:p>
          <a:p>
            <a:pPr rtl="0"/>
            <a:endParaRPr lang="en-US" sz="3600" dirty="0">
              <a:solidFill>
                <a:schemeClr val="bg2"/>
              </a:solidFill>
            </a:endParaRPr>
          </a:p>
          <a:p>
            <a:pPr rtl="0"/>
            <a:r>
              <a:rPr lang="en-US" sz="3600" dirty="0">
                <a:solidFill>
                  <a:schemeClr val="bg2"/>
                </a:solidFill>
              </a:rPr>
              <a:t>1.Business and data understanding</a:t>
            </a:r>
          </a:p>
          <a:p>
            <a:pPr rtl="0"/>
            <a:r>
              <a:rPr lang="en-US" sz="3600" dirty="0">
                <a:solidFill>
                  <a:schemeClr val="bg2"/>
                </a:solidFill>
              </a:rPr>
              <a:t>2.Data preparation</a:t>
            </a:r>
            <a:endParaRPr lang="en-US" sz="4000" dirty="0">
              <a:solidFill>
                <a:schemeClr val="bg2"/>
              </a:solidFill>
            </a:endParaRPr>
          </a:p>
          <a:p>
            <a:pPr rtl="0"/>
            <a:r>
              <a:rPr lang="en-US" sz="4000" dirty="0">
                <a:solidFill>
                  <a:schemeClr val="bg2"/>
                </a:solidFill>
              </a:rPr>
              <a:t>3.Model building</a:t>
            </a:r>
          </a:p>
          <a:p>
            <a:pPr rtl="0"/>
            <a:r>
              <a:rPr lang="en-US" sz="3600" dirty="0">
                <a:solidFill>
                  <a:schemeClr val="bg2"/>
                </a:solidFill>
              </a:rPr>
              <a:t>4.Model evaluation</a:t>
            </a:r>
          </a:p>
          <a:p>
            <a:pPr rtl="0"/>
            <a:r>
              <a:rPr lang="en-US" sz="3600" dirty="0">
                <a:solidFill>
                  <a:schemeClr val="bg2"/>
                </a:solidFill>
              </a:rPr>
              <a:t>5.Model deployment</a:t>
            </a:r>
          </a:p>
          <a:p>
            <a:pPr rtl="0"/>
            <a:r>
              <a:rPr lang="en-US" sz="3600" dirty="0">
                <a:solidFill>
                  <a:schemeClr val="bg2"/>
                </a:solidFill>
              </a:rPr>
              <a:t>6.Monitoring and maintenance</a:t>
            </a:r>
            <a:br>
              <a:rPr lang="en-US" sz="3600" dirty="0">
                <a:solidFill>
                  <a:schemeClr val="bg2"/>
                </a:solidFill>
              </a:rPr>
            </a:br>
            <a:endParaRPr lang="en-IN" sz="3600" dirty="0">
              <a:solidFill>
                <a:schemeClr val="bg2"/>
              </a:solidFill>
            </a:endParaRPr>
          </a:p>
        </p:txBody>
      </p:sp>
      <p:pic>
        <p:nvPicPr>
          <p:cNvPr id="3" name="Picture 2">
            <a:extLst>
              <a:ext uri="{FF2B5EF4-FFF2-40B4-BE49-F238E27FC236}">
                <a16:creationId xmlns:a16="http://schemas.microsoft.com/office/drawing/2014/main" id="{1D6D0018-FBD8-2895-ACF1-C8F1C13FA504}"/>
              </a:ext>
            </a:extLst>
          </p:cNvPr>
          <p:cNvPicPr>
            <a:picLocks noChangeAspect="1"/>
          </p:cNvPicPr>
          <p:nvPr/>
        </p:nvPicPr>
        <p:blipFill>
          <a:blip r:embed="rId2"/>
          <a:stretch>
            <a:fillRect/>
          </a:stretch>
        </p:blipFill>
        <p:spPr>
          <a:xfrm>
            <a:off x="9401175" y="5757863"/>
            <a:ext cx="2757487" cy="995362"/>
          </a:xfrm>
          <a:prstGeom prst="rect">
            <a:avLst/>
          </a:prstGeom>
        </p:spPr>
      </p:pic>
    </p:spTree>
    <p:extLst>
      <p:ext uri="{BB962C8B-B14F-4D97-AF65-F5344CB8AC3E}">
        <p14:creationId xmlns:p14="http://schemas.microsoft.com/office/powerpoint/2010/main" val="11460241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230E76-1E7E-0A6B-56E0-827E1D3AD49D}"/>
              </a:ext>
            </a:extLst>
          </p:cNvPr>
          <p:cNvSpPr>
            <a:spLocks noGrp="1"/>
          </p:cNvSpPr>
          <p:nvPr>
            <p:ph type="title"/>
          </p:nvPr>
        </p:nvSpPr>
        <p:spPr>
          <a:xfrm>
            <a:off x="0" y="0"/>
            <a:ext cx="12192000" cy="6858000"/>
          </a:xfrm>
        </p:spPr>
        <p:txBody>
          <a:bodyPr>
            <a:normAutofit/>
          </a:bodyPr>
          <a:lstStyle/>
          <a:p>
            <a:r>
              <a:rPr lang="en-IN" sz="8800" b="1" dirty="0">
                <a:highlight>
                  <a:srgbClr val="00FFFF"/>
                </a:highlight>
              </a:rPr>
              <a:t>PROJECT ARCHITECTURE</a:t>
            </a:r>
          </a:p>
        </p:txBody>
      </p:sp>
    </p:spTree>
    <p:extLst>
      <p:ext uri="{BB962C8B-B14F-4D97-AF65-F5344CB8AC3E}">
        <p14:creationId xmlns:p14="http://schemas.microsoft.com/office/powerpoint/2010/main" val="19073550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5E387A55-E2BE-EB2D-2983-98C022FAB3AF}"/>
              </a:ext>
            </a:extLst>
          </p:cNvPr>
          <p:cNvSpPr txBox="1"/>
          <p:nvPr/>
        </p:nvSpPr>
        <p:spPr>
          <a:xfrm>
            <a:off x="883487" y="0"/>
            <a:ext cx="10038522" cy="590931"/>
          </a:xfrm>
          <a:prstGeom prst="rect">
            <a:avLst/>
          </a:prstGeom>
          <a:noFill/>
        </p:spPr>
        <p:txBody>
          <a:bodyPr wrap="square">
            <a:spAutoFit/>
          </a:bodyPr>
          <a:lstStyle/>
          <a:p>
            <a:pPr marL="25400" lvl="0" algn="ctr" rtl="0">
              <a:lnSpc>
                <a:spcPct val="90000"/>
              </a:lnSpc>
              <a:spcBef>
                <a:spcPts val="0"/>
              </a:spcBef>
              <a:spcAft>
                <a:spcPts val="0"/>
              </a:spcAft>
              <a:buClr>
                <a:schemeClr val="dk1"/>
              </a:buClr>
              <a:buSzPts val="3200"/>
            </a:pPr>
            <a:r>
              <a:rPr lang="en-US" sz="3600" b="1" dirty="0">
                <a:solidFill>
                  <a:schemeClr val="dk1"/>
                </a:solidFill>
                <a:latin typeface="Times New Roman"/>
                <a:ea typeface="Times New Roman"/>
                <a:cs typeface="Times New Roman"/>
                <a:sym typeface="Times New Roman"/>
              </a:rPr>
              <a:t>PROJECT ARCHITECTURE-HIGH LEVEL</a:t>
            </a:r>
          </a:p>
        </p:txBody>
      </p:sp>
      <p:pic>
        <p:nvPicPr>
          <p:cNvPr id="4" name="Picture 3">
            <a:extLst>
              <a:ext uri="{FF2B5EF4-FFF2-40B4-BE49-F238E27FC236}">
                <a16:creationId xmlns:a16="http://schemas.microsoft.com/office/drawing/2014/main" id="{0D00ADAF-30E3-9A08-E12C-1C67B0E26D52}"/>
              </a:ext>
            </a:extLst>
          </p:cNvPr>
          <p:cNvPicPr>
            <a:picLocks noChangeAspect="1"/>
          </p:cNvPicPr>
          <p:nvPr/>
        </p:nvPicPr>
        <p:blipFill>
          <a:blip r:embed="rId3"/>
          <a:stretch>
            <a:fillRect/>
          </a:stretch>
        </p:blipFill>
        <p:spPr>
          <a:xfrm>
            <a:off x="9629775" y="6264112"/>
            <a:ext cx="2562225" cy="593888"/>
          </a:xfrm>
          <a:prstGeom prst="rect">
            <a:avLst/>
          </a:prstGeom>
        </p:spPr>
      </p:pic>
      <p:pic>
        <p:nvPicPr>
          <p:cNvPr id="5" name="Picture 4">
            <a:extLst>
              <a:ext uri="{FF2B5EF4-FFF2-40B4-BE49-F238E27FC236}">
                <a16:creationId xmlns:a16="http://schemas.microsoft.com/office/drawing/2014/main" id="{333C0F2F-2A1A-F700-6928-F1A82236631B}"/>
              </a:ext>
            </a:extLst>
          </p:cNvPr>
          <p:cNvPicPr>
            <a:picLocks noChangeAspect="1"/>
          </p:cNvPicPr>
          <p:nvPr/>
        </p:nvPicPr>
        <p:blipFill>
          <a:blip r:embed="rId4"/>
          <a:stretch>
            <a:fillRect/>
          </a:stretch>
        </p:blipFill>
        <p:spPr>
          <a:xfrm>
            <a:off x="213491" y="1014075"/>
            <a:ext cx="11765017" cy="5143838"/>
          </a:xfrm>
          <a:prstGeom prst="rect">
            <a:avLst/>
          </a:prstGeom>
        </p:spPr>
      </p:pic>
    </p:spTree>
    <p:extLst>
      <p:ext uri="{BB962C8B-B14F-4D97-AF65-F5344CB8AC3E}">
        <p14:creationId xmlns:p14="http://schemas.microsoft.com/office/powerpoint/2010/main" val="16114721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76E3D5-F608-DC69-95E7-189A562FA5B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6BDE8A9-5736-7DFB-B9C6-E660E4E7B9E7}"/>
              </a:ext>
            </a:extLst>
          </p:cNvPr>
          <p:cNvSpPr txBox="1"/>
          <p:nvPr/>
        </p:nvSpPr>
        <p:spPr>
          <a:xfrm>
            <a:off x="0" y="0"/>
            <a:ext cx="12134411" cy="6032421"/>
          </a:xfrm>
          <a:prstGeom prst="rect">
            <a:avLst/>
          </a:prstGeom>
          <a:noFill/>
        </p:spPr>
        <p:txBody>
          <a:bodyPr wrap="square">
            <a:spAutoFit/>
          </a:bodyPr>
          <a:lstStyle/>
          <a:p>
            <a:r>
              <a:rPr lang="en-IN" sz="3600" dirty="0"/>
              <a:t>Technical Stacks:</a:t>
            </a:r>
          </a:p>
          <a:p>
            <a:endParaRPr lang="en-IN" sz="2400" dirty="0"/>
          </a:p>
          <a:p>
            <a:r>
              <a:rPr lang="en-IN" sz="2400" b="1" dirty="0"/>
              <a:t>Programming: </a:t>
            </a:r>
            <a:r>
              <a:rPr lang="en-IN" sz="2400" dirty="0"/>
              <a:t>Python, SQL</a:t>
            </a:r>
          </a:p>
          <a:p>
            <a:endParaRPr lang="en-IN" sz="2400" dirty="0"/>
          </a:p>
          <a:p>
            <a:r>
              <a:rPr lang="en-IN" sz="2400" b="1" dirty="0"/>
              <a:t>Data Manipulation</a:t>
            </a:r>
            <a:r>
              <a:rPr lang="en-IN" sz="2400" dirty="0"/>
              <a:t>: Pandas, NumPy.</a:t>
            </a:r>
          </a:p>
          <a:p>
            <a:endParaRPr lang="en-IN" sz="2400" dirty="0"/>
          </a:p>
          <a:p>
            <a:r>
              <a:rPr lang="en-IN" sz="2400" b="1" dirty="0"/>
              <a:t>Data Visualization</a:t>
            </a:r>
            <a:r>
              <a:rPr lang="en-IN" sz="2400" dirty="0"/>
              <a:t>: Matplotlib, Seaborn</a:t>
            </a:r>
          </a:p>
          <a:p>
            <a:endParaRPr lang="en-IN" sz="2400" dirty="0"/>
          </a:p>
          <a:p>
            <a:r>
              <a:rPr lang="en-IN" sz="2400" b="1" dirty="0"/>
              <a:t>Machine Learning</a:t>
            </a:r>
            <a:r>
              <a:rPr lang="en-IN" sz="2400" dirty="0"/>
              <a:t>: Scikit-leam, </a:t>
            </a:r>
            <a:r>
              <a:rPr lang="en-IN" sz="2400" dirty="0" err="1"/>
              <a:t>XGBoost</a:t>
            </a:r>
            <a:endParaRPr lang="en-IN" sz="2400" dirty="0"/>
          </a:p>
          <a:p>
            <a:endParaRPr lang="en-IN" sz="2400" dirty="0"/>
          </a:p>
          <a:p>
            <a:r>
              <a:rPr lang="en-IN" sz="2400" b="1" dirty="0"/>
              <a:t>Model Evaluation: </a:t>
            </a:r>
            <a:r>
              <a:rPr lang="en-IN" sz="2400" dirty="0"/>
              <a:t>Accuracy, Confusion Matrix, Classification Report Tools. </a:t>
            </a:r>
          </a:p>
          <a:p>
            <a:endParaRPr lang="en-IN" sz="2400" b="1" dirty="0"/>
          </a:p>
          <a:p>
            <a:r>
              <a:rPr lang="en-IN" sz="2400" b="1" dirty="0"/>
              <a:t>Frameworks: </a:t>
            </a:r>
            <a:r>
              <a:rPr lang="en-IN" sz="2400" dirty="0" err="1"/>
              <a:t>Jupyter</a:t>
            </a:r>
            <a:r>
              <a:rPr lang="en-IN" sz="2400" dirty="0"/>
              <a:t> Notebook Google </a:t>
            </a:r>
            <a:r>
              <a:rPr lang="en-IN" sz="2400" dirty="0" err="1"/>
              <a:t>Colab</a:t>
            </a:r>
            <a:endParaRPr lang="en-IN" sz="2400" dirty="0"/>
          </a:p>
          <a:p>
            <a:endParaRPr lang="en-IN" sz="2400" dirty="0"/>
          </a:p>
          <a:p>
            <a:r>
              <a:rPr lang="en-IN" sz="2400" b="1" dirty="0"/>
              <a:t>Deployment: </a:t>
            </a:r>
            <a:r>
              <a:rPr lang="en-IN" sz="2400" dirty="0" err="1"/>
              <a:t>Streamit</a:t>
            </a:r>
            <a:endParaRPr lang="en-IN" sz="2400" dirty="0"/>
          </a:p>
          <a:p>
            <a:endParaRPr lang="en-IN" dirty="0"/>
          </a:p>
        </p:txBody>
      </p:sp>
      <p:pic>
        <p:nvPicPr>
          <p:cNvPr id="4" name="Picture 3">
            <a:extLst>
              <a:ext uri="{FF2B5EF4-FFF2-40B4-BE49-F238E27FC236}">
                <a16:creationId xmlns:a16="http://schemas.microsoft.com/office/drawing/2014/main" id="{9438A091-26A9-94CF-10D6-C7DDB455B2AC}"/>
              </a:ext>
            </a:extLst>
          </p:cNvPr>
          <p:cNvPicPr>
            <a:picLocks noChangeAspect="1"/>
          </p:cNvPicPr>
          <p:nvPr/>
        </p:nvPicPr>
        <p:blipFill>
          <a:blip r:embed="rId3"/>
          <a:stretch>
            <a:fillRect/>
          </a:stretch>
        </p:blipFill>
        <p:spPr>
          <a:xfrm>
            <a:off x="9629775" y="6264112"/>
            <a:ext cx="2562225" cy="593888"/>
          </a:xfrm>
          <a:prstGeom prst="rect">
            <a:avLst/>
          </a:prstGeom>
        </p:spPr>
      </p:pic>
    </p:spTree>
    <p:extLst>
      <p:ext uri="{BB962C8B-B14F-4D97-AF65-F5344CB8AC3E}">
        <p14:creationId xmlns:p14="http://schemas.microsoft.com/office/powerpoint/2010/main" val="14435271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6D6A0B-C2D0-8F2E-5379-FAC09ECB5E81}"/>
              </a:ext>
            </a:extLst>
          </p:cNvPr>
          <p:cNvSpPr>
            <a:spLocks noGrp="1"/>
          </p:cNvSpPr>
          <p:nvPr>
            <p:ph type="title"/>
          </p:nvPr>
        </p:nvSpPr>
        <p:spPr>
          <a:xfrm>
            <a:off x="0" y="0"/>
            <a:ext cx="12192000" cy="6858000"/>
          </a:xfrm>
        </p:spPr>
        <p:txBody>
          <a:bodyPr>
            <a:normAutofit fontScale="90000"/>
          </a:bodyPr>
          <a:lstStyle/>
          <a:p>
            <a:br>
              <a:rPr lang="en-US" sz="3600" b="1" dirty="0"/>
            </a:br>
            <a:br>
              <a:rPr lang="en-US" sz="3600" b="1" dirty="0"/>
            </a:br>
            <a:r>
              <a:rPr lang="en-US" sz="3600" b="1" dirty="0"/>
              <a:t>Data Dictionary</a:t>
            </a:r>
            <a:br>
              <a:rPr lang="en-US" dirty="0"/>
            </a:br>
            <a:br>
              <a:rPr lang="en-US" sz="3100" dirty="0"/>
            </a:br>
            <a:r>
              <a:rPr lang="en-US" sz="3100" b="1" dirty="0"/>
              <a:t>COKE_REQ: </a:t>
            </a:r>
            <a:r>
              <a:rPr lang="en-US" sz="3100" dirty="0"/>
              <a:t>Quantity of coke required for the production process (continuous </a:t>
            </a:r>
            <a:br>
              <a:rPr lang="en-US" sz="3100" dirty="0"/>
            </a:br>
            <a:r>
              <a:rPr lang="en-US" sz="3100" dirty="0"/>
              <a:t>numerical). </a:t>
            </a:r>
            <a:br>
              <a:rPr lang="en-US" sz="3100" dirty="0"/>
            </a:br>
            <a:br>
              <a:rPr lang="en-US" sz="3100" dirty="0"/>
            </a:br>
            <a:r>
              <a:rPr lang="en-US" sz="3100" b="1" dirty="0"/>
              <a:t>SCRAP QTY: </a:t>
            </a:r>
            <a:r>
              <a:rPr lang="en-US" sz="3100" dirty="0"/>
              <a:t>Quantity of scrap used in the process (continuous numerical). </a:t>
            </a:r>
            <a:br>
              <a:rPr lang="en-US" sz="3100" dirty="0"/>
            </a:br>
            <a:br>
              <a:rPr lang="en-US" sz="3100" dirty="0"/>
            </a:br>
            <a:r>
              <a:rPr lang="en-US" sz="3100" b="1" dirty="0"/>
              <a:t>INJ1_QTY: </a:t>
            </a:r>
            <a:r>
              <a:rPr lang="en-US" sz="3100" dirty="0"/>
              <a:t>Quantity of coke injection in the blast furnace (continuous numerical). </a:t>
            </a:r>
            <a:br>
              <a:rPr lang="en-US" sz="3100" dirty="0"/>
            </a:br>
            <a:br>
              <a:rPr lang="en-US" sz="3100" dirty="0"/>
            </a:br>
            <a:r>
              <a:rPr lang="en-US" sz="3100" b="1" dirty="0"/>
              <a:t>PIGIRON: </a:t>
            </a:r>
            <a:r>
              <a:rPr lang="en-US" sz="3100" dirty="0"/>
              <a:t>Amount of pig iron produced (continuous numerical).</a:t>
            </a:r>
            <a:br>
              <a:rPr lang="en-US" sz="3100" dirty="0"/>
            </a:br>
            <a:br>
              <a:rPr lang="en-US" sz="3100" dirty="0"/>
            </a:br>
            <a:r>
              <a:rPr lang="en-US" sz="3100" b="1" dirty="0"/>
              <a:t>KWH_PER_TON: </a:t>
            </a:r>
            <a:r>
              <a:rPr lang="en-US" sz="3100" dirty="0"/>
              <a:t>Energy consumption per ton of production (continuous numerical). </a:t>
            </a:r>
            <a:br>
              <a:rPr lang="en-US" sz="3100" dirty="0"/>
            </a:br>
            <a:br>
              <a:rPr lang="en-US" sz="3100" dirty="0"/>
            </a:br>
            <a:r>
              <a:rPr lang="en-US" sz="3100" b="1" dirty="0"/>
              <a:t>KWH_PER_MIN: </a:t>
            </a:r>
            <a:r>
              <a:rPr lang="en-US" sz="3100" dirty="0"/>
              <a:t>Energy consumption per minute (continuous numerical). </a:t>
            </a:r>
            <a:br>
              <a:rPr lang="en-US" sz="3100" dirty="0"/>
            </a:br>
            <a:br>
              <a:rPr lang="en-US" sz="3100" dirty="0"/>
            </a:br>
            <a:r>
              <a:rPr lang="en-US" sz="3100" b="1" dirty="0"/>
              <a:t>TAPPING_TIME: </a:t>
            </a:r>
            <a:r>
              <a:rPr lang="en-US" sz="3100" dirty="0"/>
              <a:t>Timestamp when the tapping process starts (datetime). </a:t>
            </a:r>
            <a:br>
              <a:rPr lang="en-US" sz="3100" dirty="0"/>
            </a:br>
            <a:br>
              <a:rPr lang="en-US" sz="3100" dirty="0"/>
            </a:br>
            <a:br>
              <a:rPr lang="en-US" sz="3100" dirty="0"/>
            </a:br>
            <a:endParaRPr lang="en-IN" sz="3100" dirty="0"/>
          </a:p>
        </p:txBody>
      </p:sp>
      <p:pic>
        <p:nvPicPr>
          <p:cNvPr id="3" name="Picture 2">
            <a:extLst>
              <a:ext uri="{FF2B5EF4-FFF2-40B4-BE49-F238E27FC236}">
                <a16:creationId xmlns:a16="http://schemas.microsoft.com/office/drawing/2014/main" id="{86626859-E625-923B-FBAC-6CC1086F19A7}"/>
              </a:ext>
            </a:extLst>
          </p:cNvPr>
          <p:cNvPicPr>
            <a:picLocks noChangeAspect="1"/>
          </p:cNvPicPr>
          <p:nvPr/>
        </p:nvPicPr>
        <p:blipFill>
          <a:blip r:embed="rId2"/>
          <a:stretch>
            <a:fillRect/>
          </a:stretch>
        </p:blipFill>
        <p:spPr>
          <a:xfrm>
            <a:off x="10615613" y="6086475"/>
            <a:ext cx="1576387" cy="771525"/>
          </a:xfrm>
          <a:prstGeom prst="rect">
            <a:avLst/>
          </a:prstGeom>
        </p:spPr>
      </p:pic>
    </p:spTree>
    <p:extLst>
      <p:ext uri="{BB962C8B-B14F-4D97-AF65-F5344CB8AC3E}">
        <p14:creationId xmlns:p14="http://schemas.microsoft.com/office/powerpoint/2010/main" val="12304606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7032C3-F75A-DFD7-F7A3-1D1D84A96DF8}"/>
              </a:ext>
            </a:extLst>
          </p:cNvPr>
          <p:cNvSpPr>
            <a:spLocks noGrp="1"/>
          </p:cNvSpPr>
          <p:nvPr>
            <p:ph type="title"/>
          </p:nvPr>
        </p:nvSpPr>
        <p:spPr>
          <a:xfrm>
            <a:off x="1" y="0"/>
            <a:ext cx="12192000" cy="6788557"/>
          </a:xfrm>
        </p:spPr>
        <p:txBody>
          <a:bodyPr>
            <a:normAutofit/>
          </a:bodyPr>
          <a:lstStyle/>
          <a:p>
            <a:r>
              <a:rPr lang="en-US" sz="2800" b="1" dirty="0"/>
              <a:t>POW_ON_TIME: </a:t>
            </a:r>
            <a:r>
              <a:rPr lang="en-US" sz="2800" dirty="0"/>
              <a:t>Timestamp when the power-on process starts (datetime). </a:t>
            </a:r>
            <a:br>
              <a:rPr lang="en-US" sz="4400" dirty="0"/>
            </a:br>
            <a:br>
              <a:rPr lang="en-US" sz="4400" dirty="0"/>
            </a:br>
            <a:r>
              <a:rPr lang="en-US" sz="2800" b="1" dirty="0"/>
              <a:t>LAB_REP_TIME: </a:t>
            </a:r>
            <a:r>
              <a:rPr lang="en-US" sz="2800" dirty="0"/>
              <a:t>Timestamp when the lab report is generated (datetime). </a:t>
            </a:r>
            <a:br>
              <a:rPr lang="en-US" sz="4400" dirty="0"/>
            </a:br>
            <a:br>
              <a:rPr lang="en-US" sz="4400" dirty="0"/>
            </a:br>
            <a:r>
              <a:rPr lang="en-US" sz="2800" b="1" dirty="0"/>
              <a:t>GRADE: </a:t>
            </a:r>
            <a:r>
              <a:rPr lang="en-US" sz="2800" dirty="0"/>
              <a:t>Steel grade produced (categorical: quality specification of steel).</a:t>
            </a:r>
            <a:br>
              <a:rPr lang="en-US" sz="4400" dirty="0"/>
            </a:br>
            <a:br>
              <a:rPr lang="en-US" sz="4400" dirty="0"/>
            </a:br>
            <a:r>
              <a:rPr lang="en-US" sz="2800" b="1" dirty="0"/>
              <a:t>SECTION_IC: </a:t>
            </a:r>
            <a:r>
              <a:rPr lang="en-US" sz="2800" dirty="0"/>
              <a:t>Section of the production process (categorical: e.g., different stages or areas). </a:t>
            </a:r>
            <a:br>
              <a:rPr lang="en-US" sz="2800" dirty="0"/>
            </a:br>
            <a:br>
              <a:rPr lang="en-US" sz="4400" dirty="0"/>
            </a:br>
            <a:r>
              <a:rPr lang="en-US" sz="2800" b="1" dirty="0"/>
              <a:t>MELT TIME: </a:t>
            </a:r>
            <a:r>
              <a:rPr lang="en-US" sz="2800" dirty="0"/>
              <a:t>Time taken for melting the material (continuous numerical). </a:t>
            </a:r>
            <a:endParaRPr lang="en-IN" sz="2800" dirty="0"/>
          </a:p>
        </p:txBody>
      </p:sp>
      <p:pic>
        <p:nvPicPr>
          <p:cNvPr id="3" name="Picture 2">
            <a:extLst>
              <a:ext uri="{FF2B5EF4-FFF2-40B4-BE49-F238E27FC236}">
                <a16:creationId xmlns:a16="http://schemas.microsoft.com/office/drawing/2014/main" id="{31CA3AFF-59E3-82E2-F8AA-010AE3C9D1D3}"/>
              </a:ext>
            </a:extLst>
          </p:cNvPr>
          <p:cNvPicPr>
            <a:picLocks noChangeAspect="1"/>
          </p:cNvPicPr>
          <p:nvPr/>
        </p:nvPicPr>
        <p:blipFill>
          <a:blip r:embed="rId2"/>
          <a:stretch>
            <a:fillRect/>
          </a:stretch>
        </p:blipFill>
        <p:spPr>
          <a:xfrm>
            <a:off x="9929812" y="6197193"/>
            <a:ext cx="2104183" cy="591363"/>
          </a:xfrm>
          <a:prstGeom prst="rect">
            <a:avLst/>
          </a:prstGeom>
        </p:spPr>
      </p:pic>
    </p:spTree>
    <p:extLst>
      <p:ext uri="{BB962C8B-B14F-4D97-AF65-F5344CB8AC3E}">
        <p14:creationId xmlns:p14="http://schemas.microsoft.com/office/powerpoint/2010/main" val="35489617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A2A57C-A9D7-71E5-A570-BADBF6DFED10}"/>
              </a:ext>
            </a:extLst>
          </p:cNvPr>
          <p:cNvSpPr>
            <a:spLocks noGrp="1"/>
          </p:cNvSpPr>
          <p:nvPr>
            <p:ph type="title"/>
          </p:nvPr>
        </p:nvSpPr>
        <p:spPr>
          <a:xfrm>
            <a:off x="0" y="0"/>
            <a:ext cx="12192000" cy="6857999"/>
          </a:xfrm>
        </p:spPr>
        <p:txBody>
          <a:bodyPr>
            <a:normAutofit/>
          </a:bodyPr>
          <a:lstStyle/>
          <a:p>
            <a:r>
              <a:rPr lang="en-US" sz="2800" b="1" dirty="0"/>
              <a:t>HOT_METAL: </a:t>
            </a:r>
            <a:r>
              <a:rPr lang="en-US" sz="2800" dirty="0"/>
              <a:t>Amount of hot metal produced (continuous numerical).</a:t>
            </a:r>
            <a:br>
              <a:rPr lang="en-US" sz="2800" dirty="0"/>
            </a:br>
            <a:br>
              <a:rPr lang="en-US" sz="4400" dirty="0"/>
            </a:br>
            <a:r>
              <a:rPr lang="en-US" sz="2800" b="1" dirty="0"/>
              <a:t>Production (MT): </a:t>
            </a:r>
            <a:r>
              <a:rPr lang="en-US" sz="2800" dirty="0"/>
              <a:t>Total production in metric tons (continuous numerical).</a:t>
            </a:r>
            <a:br>
              <a:rPr lang="en-US" sz="2800" dirty="0"/>
            </a:br>
            <a:br>
              <a:rPr lang="en-US" sz="2800" dirty="0"/>
            </a:br>
            <a:r>
              <a:rPr lang="en-US" sz="2800" dirty="0"/>
              <a:t> </a:t>
            </a:r>
            <a:r>
              <a:rPr lang="en-US" sz="2800" b="1" dirty="0"/>
              <a:t>PREV_TAP_TIME: </a:t>
            </a:r>
            <a:r>
              <a:rPr lang="en-US" sz="2800" dirty="0"/>
              <a:t>Timestamp for the previous tapping process (datetime).</a:t>
            </a:r>
            <a:br>
              <a:rPr lang="en-US" sz="2800" dirty="0"/>
            </a:br>
            <a:br>
              <a:rPr lang="en-US" sz="2800" dirty="0"/>
            </a:br>
            <a:r>
              <a:rPr lang="en-US" sz="2800" b="1" dirty="0"/>
              <a:t>VARIOUS OTHER VARIABLES: </a:t>
            </a:r>
            <a:r>
              <a:rPr lang="en-US" sz="2800" dirty="0"/>
              <a:t>Additional features related to operational and chemical data (e.g., C, SI, MN- chemical compositions).</a:t>
            </a:r>
            <a:endParaRPr lang="en-IN" sz="2800" dirty="0"/>
          </a:p>
        </p:txBody>
      </p:sp>
    </p:spTree>
    <p:extLst>
      <p:ext uri="{BB962C8B-B14F-4D97-AF65-F5344CB8AC3E}">
        <p14:creationId xmlns:p14="http://schemas.microsoft.com/office/powerpoint/2010/main" val="6915126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AABB60-D756-82B6-33F2-72C2D14F3A25}"/>
              </a:ext>
            </a:extLst>
          </p:cNvPr>
          <p:cNvSpPr>
            <a:spLocks noGrp="1"/>
          </p:cNvSpPr>
          <p:nvPr>
            <p:ph type="title"/>
          </p:nvPr>
        </p:nvSpPr>
        <p:spPr>
          <a:xfrm>
            <a:off x="0" y="0"/>
            <a:ext cx="12192000" cy="6857999"/>
          </a:xfrm>
        </p:spPr>
        <p:txBody>
          <a:bodyPr>
            <a:normAutofit fontScale="90000"/>
          </a:bodyPr>
          <a:lstStyle/>
          <a:p>
            <a:br>
              <a:rPr lang="en-US" sz="3200" b="1" dirty="0"/>
            </a:br>
            <a:r>
              <a:rPr lang="en-US" sz="3600" b="1" dirty="0"/>
              <a:t>Data Collection:</a:t>
            </a:r>
            <a:br>
              <a:rPr lang="en-US" sz="3200" b="1" dirty="0"/>
            </a:br>
            <a:br>
              <a:rPr lang="en-US" sz="3200" b="1" dirty="0"/>
            </a:br>
            <a:r>
              <a:rPr lang="en-US" sz="3200" b="1" dirty="0"/>
              <a:t>Production Data: </a:t>
            </a:r>
            <a:r>
              <a:rPr lang="en-US" sz="3200" dirty="0"/>
              <a:t>Includes material quantities (COKE REQ SCRAP QTY), energy     consumption (KWH_PER_TON, KWH PER MIN), and time-related variables (TAPPING TIME, POW ON TIME).</a:t>
            </a:r>
            <a:br>
              <a:rPr lang="en-US" sz="3200" dirty="0"/>
            </a:br>
            <a:br>
              <a:rPr lang="en-US" sz="3200" b="1" dirty="0"/>
            </a:br>
            <a:r>
              <a:rPr lang="en-US" sz="3200" b="1" dirty="0"/>
              <a:t>Operational Data: </a:t>
            </a:r>
            <a:r>
              <a:rPr lang="en-US" sz="3200" dirty="0"/>
              <a:t>Includes hot metal production (HOT METAL) and steel grade (GRADE). Chemical Composition: Data on key materials like C, SI, and MN.</a:t>
            </a:r>
            <a:br>
              <a:rPr lang="en-US" sz="3200" dirty="0"/>
            </a:br>
            <a:br>
              <a:rPr lang="en-US" sz="3200" dirty="0"/>
            </a:br>
            <a:r>
              <a:rPr lang="en-US" sz="3200" b="1" dirty="0"/>
              <a:t>External Factors: </a:t>
            </a:r>
            <a:r>
              <a:rPr lang="en-US" sz="3200" dirty="0"/>
              <a:t>Weather and shift data influencing production.</a:t>
            </a:r>
            <a:br>
              <a:rPr lang="en-US" sz="3200" dirty="0"/>
            </a:br>
            <a:br>
              <a:rPr lang="en-US" sz="3200" dirty="0"/>
            </a:br>
            <a:r>
              <a:rPr lang="en-US" sz="3200" b="1" dirty="0"/>
              <a:t>Time-based Data:</a:t>
            </a:r>
            <a:r>
              <a:rPr lang="en-US" sz="3200" dirty="0"/>
              <a:t> Timestamps (TAPPING TIME, POW ON TIME) for time-series analysis.</a:t>
            </a:r>
            <a:br>
              <a:rPr lang="en-US" sz="3200" b="1" dirty="0"/>
            </a:br>
            <a:br>
              <a:rPr lang="en-IN" b="1" dirty="0"/>
            </a:br>
            <a:r>
              <a:rPr lang="en-IN" sz="8000" dirty="0">
                <a:solidFill>
                  <a:schemeClr val="accent1">
                    <a:lumMod val="60000"/>
                    <a:lumOff val="40000"/>
                  </a:schemeClr>
                </a:solidFill>
              </a:rPr>
              <a:t>        </a:t>
            </a:r>
            <a:endParaRPr lang="en-IN" sz="9600" dirty="0">
              <a:solidFill>
                <a:schemeClr val="accent1">
                  <a:lumMod val="60000"/>
                  <a:lumOff val="40000"/>
                </a:schemeClr>
              </a:solidFill>
            </a:endParaRPr>
          </a:p>
        </p:txBody>
      </p:sp>
      <p:pic>
        <p:nvPicPr>
          <p:cNvPr id="4" name="Picture 3">
            <a:extLst>
              <a:ext uri="{FF2B5EF4-FFF2-40B4-BE49-F238E27FC236}">
                <a16:creationId xmlns:a16="http://schemas.microsoft.com/office/drawing/2014/main" id="{82E75D81-DAD0-86F8-7C68-5F4A69A12B09}"/>
              </a:ext>
            </a:extLst>
          </p:cNvPr>
          <p:cNvPicPr>
            <a:picLocks noChangeAspect="1"/>
          </p:cNvPicPr>
          <p:nvPr/>
        </p:nvPicPr>
        <p:blipFill>
          <a:blip r:embed="rId2"/>
          <a:stretch>
            <a:fillRect/>
          </a:stretch>
        </p:blipFill>
        <p:spPr>
          <a:xfrm>
            <a:off x="9158288" y="5815012"/>
            <a:ext cx="2905125" cy="985837"/>
          </a:xfrm>
          <a:prstGeom prst="rect">
            <a:avLst/>
          </a:prstGeom>
        </p:spPr>
      </p:pic>
    </p:spTree>
    <p:extLst>
      <p:ext uri="{BB962C8B-B14F-4D97-AF65-F5344CB8AC3E}">
        <p14:creationId xmlns:p14="http://schemas.microsoft.com/office/powerpoint/2010/main" val="1902590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5254F2C-20DE-0CE8-7CEC-65AAF28579DC}"/>
              </a:ext>
            </a:extLst>
          </p:cNvPr>
          <p:cNvSpPr txBox="1"/>
          <p:nvPr/>
        </p:nvSpPr>
        <p:spPr>
          <a:xfrm>
            <a:off x="3046810" y="3275112"/>
            <a:ext cx="6093618" cy="307777"/>
          </a:xfrm>
          <a:prstGeom prst="rect">
            <a:avLst/>
          </a:prstGeom>
          <a:noFill/>
        </p:spPr>
        <p:txBody>
          <a:bodyPr wrap="square">
            <a:spAutoFit/>
          </a:bodyPr>
          <a:lstStyle/>
          <a:p>
            <a:r>
              <a:rPr lang="en-IN" b="0" dirty="0">
                <a:effectLst/>
              </a:rPr>
              <a:t> </a:t>
            </a:r>
            <a:endParaRPr lang="en-IN" dirty="0"/>
          </a:p>
        </p:txBody>
      </p:sp>
      <p:sp>
        <p:nvSpPr>
          <p:cNvPr id="6" name="TextBox 5">
            <a:extLst>
              <a:ext uri="{FF2B5EF4-FFF2-40B4-BE49-F238E27FC236}">
                <a16:creationId xmlns:a16="http://schemas.microsoft.com/office/drawing/2014/main" id="{356601D2-0A3D-B6AB-C52D-6A1EDB82126C}"/>
              </a:ext>
            </a:extLst>
          </p:cNvPr>
          <p:cNvSpPr txBox="1"/>
          <p:nvPr/>
        </p:nvSpPr>
        <p:spPr>
          <a:xfrm>
            <a:off x="3046810" y="3275112"/>
            <a:ext cx="6093618" cy="307777"/>
          </a:xfrm>
          <a:prstGeom prst="rect">
            <a:avLst/>
          </a:prstGeom>
          <a:noFill/>
        </p:spPr>
        <p:txBody>
          <a:bodyPr wrap="square">
            <a:spAutoFit/>
          </a:bodyPr>
          <a:lstStyle/>
          <a:p>
            <a:r>
              <a:rPr lang="en-IN" b="0" dirty="0">
                <a:effectLst/>
              </a:rPr>
              <a:t> </a:t>
            </a:r>
            <a:endParaRPr lang="en-IN" dirty="0"/>
          </a:p>
        </p:txBody>
      </p:sp>
      <p:sp>
        <p:nvSpPr>
          <p:cNvPr id="12" name="TextBox 11">
            <a:extLst>
              <a:ext uri="{FF2B5EF4-FFF2-40B4-BE49-F238E27FC236}">
                <a16:creationId xmlns:a16="http://schemas.microsoft.com/office/drawing/2014/main" id="{7A5F0465-F271-0767-40B4-EAC860E29E00}"/>
              </a:ext>
            </a:extLst>
          </p:cNvPr>
          <p:cNvSpPr txBox="1"/>
          <p:nvPr/>
        </p:nvSpPr>
        <p:spPr>
          <a:xfrm>
            <a:off x="-1" y="-1"/>
            <a:ext cx="12099132" cy="5970865"/>
          </a:xfrm>
          <a:prstGeom prst="rect">
            <a:avLst/>
          </a:prstGeom>
          <a:noFill/>
        </p:spPr>
        <p:txBody>
          <a:bodyPr wrap="square">
            <a:spAutoFit/>
          </a:bodyPr>
          <a:lstStyle/>
          <a:p>
            <a:r>
              <a:rPr lang="en-US" sz="3200" b="1" dirty="0"/>
              <a:t>Data Understanding:</a:t>
            </a:r>
          </a:p>
          <a:p>
            <a:br>
              <a:rPr lang="en-US" sz="1400" b="1" dirty="0"/>
            </a:br>
            <a:endParaRPr lang="en-US" sz="1400" b="1" dirty="0"/>
          </a:p>
          <a:p>
            <a:endParaRPr lang="en-US" b="1" dirty="0"/>
          </a:p>
          <a:p>
            <a:r>
              <a:rPr lang="en-US" sz="2800" b="1" dirty="0"/>
              <a:t>EDA: </a:t>
            </a:r>
            <a:r>
              <a:rPr lang="en-US" sz="2800" dirty="0"/>
              <a:t>Visualizing production trends, identifying outliers, and understanding feature distributions</a:t>
            </a:r>
          </a:p>
          <a:p>
            <a:endParaRPr lang="en-US" sz="2800" dirty="0"/>
          </a:p>
          <a:p>
            <a:br>
              <a:rPr lang="en-US" sz="1400" b="1" dirty="0"/>
            </a:br>
            <a:endParaRPr lang="en-US" sz="1400" b="1" dirty="0"/>
          </a:p>
          <a:p>
            <a:r>
              <a:rPr lang="en-US" sz="2800" b="1" dirty="0"/>
              <a:t>Data Cleaning: </a:t>
            </a:r>
            <a:r>
              <a:rPr lang="en-US" sz="2800" dirty="0"/>
              <a:t>Handling missing values (mode for categorical, mean for numerical) and addressing outers. Key Factors: Identifying factors like shift timing, material quality, and energy consumption affecting production.</a:t>
            </a:r>
          </a:p>
          <a:p>
            <a:endParaRPr lang="en-US" sz="2800" dirty="0"/>
          </a:p>
          <a:p>
            <a:endParaRPr lang="en-US" sz="2800" dirty="0"/>
          </a:p>
          <a:p>
            <a:r>
              <a:rPr lang="en-US" sz="2800" dirty="0"/>
              <a:t>-</a:t>
            </a:r>
            <a:r>
              <a:rPr lang="en-US" sz="2800" b="1" dirty="0"/>
              <a:t>Correlation Analysis: </a:t>
            </a:r>
            <a:r>
              <a:rPr lang="en-US" sz="2800" dirty="0"/>
              <a:t>Analyzing relationships between features to uncover key drivers of production efficiency</a:t>
            </a:r>
            <a:r>
              <a:rPr lang="en-US" sz="1400" b="1" dirty="0"/>
              <a:t>.</a:t>
            </a:r>
            <a:endParaRPr lang="en-IN" dirty="0"/>
          </a:p>
        </p:txBody>
      </p:sp>
      <p:pic>
        <p:nvPicPr>
          <p:cNvPr id="5" name="Picture 4">
            <a:extLst>
              <a:ext uri="{FF2B5EF4-FFF2-40B4-BE49-F238E27FC236}">
                <a16:creationId xmlns:a16="http://schemas.microsoft.com/office/drawing/2014/main" id="{7782939B-658E-FFBB-349D-35E02DD13574}"/>
              </a:ext>
            </a:extLst>
          </p:cNvPr>
          <p:cNvPicPr>
            <a:picLocks noChangeAspect="1"/>
          </p:cNvPicPr>
          <p:nvPr/>
        </p:nvPicPr>
        <p:blipFill>
          <a:blip r:embed="rId2"/>
          <a:stretch>
            <a:fillRect/>
          </a:stretch>
        </p:blipFill>
        <p:spPr>
          <a:xfrm>
            <a:off x="9415463" y="6029324"/>
            <a:ext cx="2683668" cy="771525"/>
          </a:xfrm>
          <a:prstGeom prst="rect">
            <a:avLst/>
          </a:prstGeom>
        </p:spPr>
      </p:pic>
    </p:spTree>
    <p:extLst>
      <p:ext uri="{BB962C8B-B14F-4D97-AF65-F5344CB8AC3E}">
        <p14:creationId xmlns:p14="http://schemas.microsoft.com/office/powerpoint/2010/main" val="22194684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A2413F2-32C1-F67C-490F-72C5D6A2CA7E}"/>
              </a:ext>
            </a:extLst>
          </p:cNvPr>
          <p:cNvSpPr txBox="1"/>
          <p:nvPr/>
        </p:nvSpPr>
        <p:spPr>
          <a:xfrm>
            <a:off x="1373981" y="3871794"/>
            <a:ext cx="9444037" cy="830997"/>
          </a:xfrm>
          <a:prstGeom prst="rect">
            <a:avLst/>
          </a:prstGeom>
          <a:noFill/>
        </p:spPr>
        <p:txBody>
          <a:bodyPr wrap="square">
            <a:spAutoFit/>
          </a:bodyPr>
          <a:lstStyle/>
          <a:p>
            <a:br>
              <a:rPr lang="en-US" sz="2400" b="0" dirty="0">
                <a:effectLst/>
              </a:rPr>
            </a:br>
            <a:endParaRPr lang="en-IN" sz="2400" dirty="0"/>
          </a:p>
        </p:txBody>
      </p:sp>
      <p:sp>
        <p:nvSpPr>
          <p:cNvPr id="3" name="TextBox 2">
            <a:extLst>
              <a:ext uri="{FF2B5EF4-FFF2-40B4-BE49-F238E27FC236}">
                <a16:creationId xmlns:a16="http://schemas.microsoft.com/office/drawing/2014/main" id="{495335A8-DADA-B906-C61C-91829F4990C6}"/>
              </a:ext>
            </a:extLst>
          </p:cNvPr>
          <p:cNvSpPr txBox="1"/>
          <p:nvPr/>
        </p:nvSpPr>
        <p:spPr>
          <a:xfrm>
            <a:off x="0" y="-1"/>
            <a:ext cx="12192000" cy="5755422"/>
          </a:xfrm>
          <a:prstGeom prst="rect">
            <a:avLst/>
          </a:prstGeom>
          <a:noFill/>
        </p:spPr>
        <p:txBody>
          <a:bodyPr wrap="square">
            <a:spAutoFit/>
          </a:bodyPr>
          <a:lstStyle/>
          <a:p>
            <a:r>
              <a:rPr lang="en-US" sz="3200" b="1" dirty="0"/>
              <a:t>Data Information:</a:t>
            </a:r>
          </a:p>
          <a:p>
            <a:endParaRPr lang="en-US" sz="2800" dirty="0"/>
          </a:p>
          <a:p>
            <a:r>
              <a:rPr lang="en-US" sz="2800" dirty="0"/>
              <a:t>-</a:t>
            </a:r>
            <a:r>
              <a:rPr lang="en-US" sz="2800" b="1" dirty="0"/>
              <a:t>Source: </a:t>
            </a:r>
            <a:r>
              <a:rPr lang="en-US" sz="2800" dirty="0"/>
              <a:t>Data provided by the client (company's past steel manufacturing data)</a:t>
            </a:r>
          </a:p>
          <a:p>
            <a:r>
              <a:rPr lang="en-US" sz="2800" b="1" dirty="0"/>
              <a:t>-Data Dimensions: </a:t>
            </a:r>
            <a:r>
              <a:rPr lang="en-US" sz="2800" dirty="0"/>
              <a:t>Rows: 2,059 Columns: 79</a:t>
            </a:r>
          </a:p>
          <a:p>
            <a:r>
              <a:rPr lang="en-US" sz="2800" b="1" dirty="0"/>
              <a:t>-Key Features: </a:t>
            </a:r>
            <a:r>
              <a:rPr lang="en-US" sz="2800" dirty="0"/>
              <a:t>CSV</a:t>
            </a:r>
          </a:p>
          <a:p>
            <a:r>
              <a:rPr lang="en-US" sz="2800" b="1" dirty="0"/>
              <a:t>-Material Quantities: </a:t>
            </a:r>
            <a:r>
              <a:rPr lang="en-US" sz="2800" dirty="0"/>
              <a:t>COKE REQ SCRAP QTY. INJ1 QTY, PIGIRON, etc. </a:t>
            </a:r>
          </a:p>
          <a:p>
            <a:r>
              <a:rPr lang="en-US" sz="2800" b="1" dirty="0"/>
              <a:t>-Energy Usage: </a:t>
            </a:r>
            <a:r>
              <a:rPr lang="en-US" sz="2800" dirty="0"/>
              <a:t>KWH PER TON, KWH PER MIN, ENERGY, etc.</a:t>
            </a:r>
          </a:p>
          <a:p>
            <a:r>
              <a:rPr lang="en-US" sz="2800" b="1" dirty="0"/>
              <a:t>-Time-related Variables: </a:t>
            </a:r>
            <a:r>
              <a:rPr lang="en-US" sz="2800" dirty="0"/>
              <a:t>TAPPING TIME. POW ON TIME. LAB_REP_TIME, etc. </a:t>
            </a:r>
          </a:p>
          <a:p>
            <a:r>
              <a:rPr lang="en-US" sz="2800" b="1" dirty="0"/>
              <a:t>-Chemical Compositions: </a:t>
            </a:r>
            <a:r>
              <a:rPr lang="en-US" sz="2800" dirty="0"/>
              <a:t>C, SI, MN, etc.</a:t>
            </a:r>
          </a:p>
          <a:p>
            <a:r>
              <a:rPr lang="en-US" sz="2800" b="1" dirty="0"/>
              <a:t>-Production Information: </a:t>
            </a:r>
            <a:r>
              <a:rPr lang="en-US" sz="2800" dirty="0"/>
              <a:t>Production (MT), MELT TIME. HOT METAL, etc.</a:t>
            </a:r>
          </a:p>
          <a:p>
            <a:r>
              <a:rPr lang="en-US" sz="2800" b="1" dirty="0"/>
              <a:t>-Time Period: </a:t>
            </a:r>
            <a:r>
              <a:rPr lang="en-US" sz="2800" dirty="0"/>
              <a:t>Data spans from [01/08/2023] to [31/10/2023]</a:t>
            </a:r>
          </a:p>
        </p:txBody>
      </p:sp>
      <p:pic>
        <p:nvPicPr>
          <p:cNvPr id="4" name="Picture 3">
            <a:extLst>
              <a:ext uri="{FF2B5EF4-FFF2-40B4-BE49-F238E27FC236}">
                <a16:creationId xmlns:a16="http://schemas.microsoft.com/office/drawing/2014/main" id="{31F6D4C0-2A65-00CF-C97B-442F60F95FF1}"/>
              </a:ext>
            </a:extLst>
          </p:cNvPr>
          <p:cNvPicPr>
            <a:picLocks noChangeAspect="1"/>
          </p:cNvPicPr>
          <p:nvPr/>
        </p:nvPicPr>
        <p:blipFill>
          <a:blip r:embed="rId2"/>
          <a:stretch>
            <a:fillRect/>
          </a:stretch>
        </p:blipFill>
        <p:spPr>
          <a:xfrm>
            <a:off x="10194133" y="5872162"/>
            <a:ext cx="1997867" cy="885825"/>
          </a:xfrm>
          <a:prstGeom prst="rect">
            <a:avLst/>
          </a:prstGeom>
        </p:spPr>
      </p:pic>
    </p:spTree>
    <p:extLst>
      <p:ext uri="{BB962C8B-B14F-4D97-AF65-F5344CB8AC3E}">
        <p14:creationId xmlns:p14="http://schemas.microsoft.com/office/powerpoint/2010/main" val="2564629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61027B6-6A23-1980-5776-1CB187E0B30B}"/>
              </a:ext>
            </a:extLst>
          </p:cNvPr>
          <p:cNvSpPr txBox="1"/>
          <p:nvPr/>
        </p:nvSpPr>
        <p:spPr>
          <a:xfrm>
            <a:off x="0" y="-100013"/>
            <a:ext cx="12458700" cy="6986528"/>
          </a:xfrm>
          <a:prstGeom prst="rect">
            <a:avLst/>
          </a:prstGeom>
          <a:noFill/>
        </p:spPr>
        <p:txBody>
          <a:bodyPr wrap="square">
            <a:spAutoFit/>
          </a:bodyPr>
          <a:lstStyle/>
          <a:p>
            <a:r>
              <a:rPr lang="en-US" sz="2800" b="1" dirty="0"/>
              <a:t>System Requirements</a:t>
            </a:r>
          </a:p>
          <a:p>
            <a:r>
              <a:rPr lang="en-US" sz="2800" b="1" dirty="0"/>
              <a:t>Hardware:</a:t>
            </a:r>
          </a:p>
          <a:p>
            <a:r>
              <a:rPr lang="en-US" sz="2800" b="1" dirty="0"/>
              <a:t>Processor: </a:t>
            </a:r>
            <a:r>
              <a:rPr lang="en-US" sz="2800" dirty="0"/>
              <a:t>Multi-core (Intel i5/i7 or AMD Ryzen 5/7) •Memory (RAM): 8 GB (Recommended: 16 GB) Storage: 500 GB HDD (Recommended: 1 TB SSD)</a:t>
            </a:r>
          </a:p>
          <a:p>
            <a:r>
              <a:rPr lang="en-US" sz="2800" b="1" dirty="0"/>
              <a:t>•Graphics Card (GPU): </a:t>
            </a:r>
            <a:r>
              <a:rPr lang="en-US" sz="2800" dirty="0"/>
              <a:t>Integrated (for basic tasks), NVIDIA GTX 1660 or equivalent (for deep learning)</a:t>
            </a:r>
          </a:p>
          <a:p>
            <a:endParaRPr lang="en-US" sz="2800" dirty="0"/>
          </a:p>
          <a:p>
            <a:r>
              <a:rPr lang="en-US" sz="2800" b="1" dirty="0"/>
              <a:t>Software:</a:t>
            </a:r>
          </a:p>
          <a:p>
            <a:r>
              <a:rPr lang="en-US" sz="2800" b="1" dirty="0"/>
              <a:t>Operating System: </a:t>
            </a:r>
            <a:r>
              <a:rPr lang="en-US" sz="2800" dirty="0"/>
              <a:t>Windows 10/11, Linux (Ubuntu preferred) </a:t>
            </a:r>
          </a:p>
          <a:p>
            <a:r>
              <a:rPr lang="en-US" sz="2800" b="1" dirty="0"/>
              <a:t>Programming: </a:t>
            </a:r>
            <a:r>
              <a:rPr lang="en-US" sz="2800" dirty="0"/>
              <a:t>Python 3.x, R (optional)</a:t>
            </a:r>
          </a:p>
          <a:p>
            <a:r>
              <a:rPr lang="en-US" sz="2800" b="1" dirty="0"/>
              <a:t>Libraries: </a:t>
            </a:r>
            <a:r>
              <a:rPr lang="en-US" sz="2800" dirty="0"/>
              <a:t>Pandas, NumPy, Scikit-learn, </a:t>
            </a:r>
            <a:r>
              <a:rPr lang="en-US" sz="2800" dirty="0" err="1"/>
              <a:t>XGBoost</a:t>
            </a:r>
            <a:r>
              <a:rPr lang="en-US" sz="2800" dirty="0"/>
              <a:t>,</a:t>
            </a:r>
          </a:p>
          <a:p>
            <a:endParaRPr lang="en-US" sz="2800" dirty="0"/>
          </a:p>
          <a:p>
            <a:r>
              <a:rPr lang="en-US" sz="2800" b="1" dirty="0"/>
              <a:t>Data Visualization: </a:t>
            </a:r>
            <a:r>
              <a:rPr lang="en-US" sz="2800" dirty="0"/>
              <a:t>Matplotlib, Seaborn, </a:t>
            </a:r>
            <a:r>
              <a:rPr lang="en-US" sz="2800" dirty="0" err="1"/>
              <a:t>Plotly</a:t>
            </a:r>
            <a:r>
              <a:rPr lang="en-US" sz="2800" dirty="0"/>
              <a:t>, Tableau/Power BI </a:t>
            </a:r>
            <a:r>
              <a:rPr lang="en-US" sz="2800" b="1" dirty="0"/>
              <a:t>Notebooks/IDE: </a:t>
            </a:r>
            <a:r>
              <a:rPr lang="en-US" sz="2800" dirty="0" err="1"/>
              <a:t>Jupyter</a:t>
            </a:r>
            <a:r>
              <a:rPr lang="en-US" sz="2800" dirty="0"/>
              <a:t> Notebook, Google </a:t>
            </a:r>
            <a:r>
              <a:rPr lang="en-US" sz="2800" dirty="0" err="1"/>
              <a:t>Colab</a:t>
            </a:r>
            <a:r>
              <a:rPr lang="en-US" sz="2800" dirty="0"/>
              <a:t>, VS Code, PyCharm </a:t>
            </a:r>
            <a:r>
              <a:rPr lang="en-US" sz="2800" b="1" dirty="0"/>
              <a:t>Databases: </a:t>
            </a:r>
            <a:r>
              <a:rPr lang="en-US" sz="2800" dirty="0"/>
              <a:t>SQL (PostgreSQL/MYSQL)</a:t>
            </a:r>
          </a:p>
          <a:p>
            <a:r>
              <a:rPr lang="en-US" sz="2800" b="1" dirty="0"/>
              <a:t>Cloud Storage: </a:t>
            </a:r>
            <a:r>
              <a:rPr lang="en-US" sz="2800" dirty="0"/>
              <a:t>AWS S3, Google Cloud Storage (optional)</a:t>
            </a:r>
          </a:p>
        </p:txBody>
      </p:sp>
      <p:pic>
        <p:nvPicPr>
          <p:cNvPr id="4" name="Picture 3">
            <a:extLst>
              <a:ext uri="{FF2B5EF4-FFF2-40B4-BE49-F238E27FC236}">
                <a16:creationId xmlns:a16="http://schemas.microsoft.com/office/drawing/2014/main" id="{73533315-B422-D378-7FD5-8E118DCEEDD4}"/>
              </a:ext>
            </a:extLst>
          </p:cNvPr>
          <p:cNvPicPr>
            <a:picLocks noChangeAspect="1"/>
          </p:cNvPicPr>
          <p:nvPr/>
        </p:nvPicPr>
        <p:blipFill>
          <a:blip r:embed="rId2"/>
          <a:stretch>
            <a:fillRect/>
          </a:stretch>
        </p:blipFill>
        <p:spPr>
          <a:xfrm>
            <a:off x="9444039" y="6081712"/>
            <a:ext cx="2562224" cy="776288"/>
          </a:xfrm>
          <a:prstGeom prst="rect">
            <a:avLst/>
          </a:prstGeom>
        </p:spPr>
      </p:pic>
    </p:spTree>
    <p:extLst>
      <p:ext uri="{BB962C8B-B14F-4D97-AF65-F5344CB8AC3E}">
        <p14:creationId xmlns:p14="http://schemas.microsoft.com/office/powerpoint/2010/main" val="25991426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524D3-B185-0F63-6F0F-A08FC62CA8A3}"/>
              </a:ext>
            </a:extLst>
          </p:cNvPr>
          <p:cNvSpPr>
            <a:spLocks noGrp="1"/>
          </p:cNvSpPr>
          <p:nvPr>
            <p:ph type="title"/>
          </p:nvPr>
        </p:nvSpPr>
        <p:spPr>
          <a:xfrm>
            <a:off x="0" y="1"/>
            <a:ext cx="12192000" cy="6858000"/>
          </a:xfrm>
        </p:spPr>
        <p:txBody>
          <a:bodyPr>
            <a:noAutofit/>
          </a:bodyPr>
          <a:lstStyle/>
          <a:p>
            <a:r>
              <a:rPr lang="en-US" sz="2800" b="1" dirty="0"/>
              <a:t>Exploratory Data Analysis [EDA]</a:t>
            </a:r>
            <a:br>
              <a:rPr lang="en-US" sz="2800" dirty="0"/>
            </a:br>
            <a:br>
              <a:rPr lang="en-US" sz="2800" dirty="0"/>
            </a:br>
            <a:r>
              <a:rPr lang="en-US" sz="2800" b="1" dirty="0"/>
              <a:t>Statistical Insights:</a:t>
            </a:r>
            <a:br>
              <a:rPr lang="en-US" sz="2800" dirty="0"/>
            </a:br>
            <a:br>
              <a:rPr lang="en-US" sz="2800" dirty="0"/>
            </a:br>
            <a:r>
              <a:rPr lang="en-US" sz="2800" b="1" dirty="0"/>
              <a:t>1.Right-Skewed Distributions:</a:t>
            </a:r>
            <a:br>
              <a:rPr lang="en-US" sz="2800" dirty="0"/>
            </a:br>
            <a:br>
              <a:rPr lang="en-US" sz="2800" dirty="0"/>
            </a:br>
            <a:r>
              <a:rPr lang="en-US" sz="2800" dirty="0"/>
              <a:t>Features like SCRAP QTY and HOT METAL are positively skewed, with a concentration of values on the lower end and a long tail on the higher end.</a:t>
            </a:r>
            <a:br>
              <a:rPr lang="en-US" sz="2800" dirty="0"/>
            </a:br>
            <a:br>
              <a:rPr lang="en-US" sz="2800" dirty="0"/>
            </a:br>
            <a:r>
              <a:rPr lang="en-US" sz="2800" b="1" dirty="0"/>
              <a:t>2.High Variance &amp;amp; Outliers:</a:t>
            </a:r>
            <a:br>
              <a:rPr lang="en-US" sz="2800" dirty="0"/>
            </a:br>
            <a:br>
              <a:rPr lang="en-US" sz="2800" dirty="0"/>
            </a:br>
            <a:r>
              <a:rPr lang="en-US" sz="2800" dirty="0"/>
              <a:t>ENERGY and MELT TIME show high variance, primarily due to extreme outliers that cause substantial deviation from the mean.</a:t>
            </a:r>
            <a:br>
              <a:rPr lang="en-US" sz="2800" dirty="0"/>
            </a:br>
            <a:br>
              <a:rPr lang="en-US" sz="2800" dirty="0"/>
            </a:br>
            <a:endParaRPr lang="en-IN" sz="2800" dirty="0"/>
          </a:p>
        </p:txBody>
      </p:sp>
    </p:spTree>
    <p:extLst>
      <p:ext uri="{BB962C8B-B14F-4D97-AF65-F5344CB8AC3E}">
        <p14:creationId xmlns:p14="http://schemas.microsoft.com/office/powerpoint/2010/main" val="16250945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1EE1260-714A-1153-CF51-851ECE28B05D}"/>
              </a:ext>
            </a:extLst>
          </p:cNvPr>
          <p:cNvSpPr txBox="1"/>
          <p:nvPr/>
        </p:nvSpPr>
        <p:spPr>
          <a:xfrm>
            <a:off x="0" y="0"/>
            <a:ext cx="12191999" cy="7417415"/>
          </a:xfrm>
          <a:prstGeom prst="rect">
            <a:avLst/>
          </a:prstGeom>
          <a:noFill/>
        </p:spPr>
        <p:txBody>
          <a:bodyPr wrap="square">
            <a:spAutoFit/>
          </a:bodyPr>
          <a:lstStyle/>
          <a:p>
            <a:r>
              <a:rPr lang="en-US" sz="2800" b="1" dirty="0"/>
              <a:t>3.Weak Correlation:</a:t>
            </a:r>
            <a:br>
              <a:rPr lang="en-US" sz="2800" dirty="0"/>
            </a:br>
            <a:r>
              <a:rPr lang="en-US" sz="2800" dirty="0"/>
              <a:t>There is some weak correlation between features like COKE_REQ and SCRAP_QTY, but the relationship appears non- linear, suggesting complexity in the data.</a:t>
            </a:r>
            <a:br>
              <a:rPr lang="en-US" sz="2800" dirty="0"/>
            </a:br>
            <a:endParaRPr lang="en-US" sz="2800" b="1" dirty="0"/>
          </a:p>
          <a:p>
            <a:r>
              <a:rPr lang="en-US" sz="2800" b="1" dirty="0"/>
              <a:t>4.Kurtosis:</a:t>
            </a:r>
            <a:br>
              <a:rPr lang="en-US" sz="2800" dirty="0"/>
            </a:br>
            <a:r>
              <a:rPr lang="en-US" sz="2800" dirty="0"/>
              <a:t>Several variables, such as PIGIRON and HBI, show high kurtosis, indicating the presence of heavy tails or outliers.</a:t>
            </a:r>
          </a:p>
          <a:p>
            <a:endParaRPr lang="en-US" sz="2800" dirty="0"/>
          </a:p>
          <a:p>
            <a:r>
              <a:rPr lang="en-US" sz="2800" b="1" dirty="0"/>
              <a:t>Business Insights:</a:t>
            </a:r>
            <a:br>
              <a:rPr lang="en-US" sz="2800" dirty="0"/>
            </a:br>
            <a:r>
              <a:rPr lang="en-US" sz="2800" b="1" dirty="0"/>
              <a:t>1.Material Usage Optimization: </a:t>
            </a:r>
            <a:r>
              <a:rPr lang="en-US" sz="2800" dirty="0"/>
              <a:t>Outliers in INJ1_QTY and SCRAP QTY suggest opportunities to optimize material usage and reduce waste.</a:t>
            </a:r>
            <a:br>
              <a:rPr lang="en-US" sz="2800" dirty="0"/>
            </a:br>
            <a:br>
              <a:rPr lang="en-US" sz="2800" dirty="0"/>
            </a:br>
            <a:r>
              <a:rPr lang="en-US" sz="2800" b="1" dirty="0"/>
              <a:t>2.Energy Efficiency: </a:t>
            </a:r>
            <a:r>
              <a:rPr lang="en-US" sz="2800" dirty="0"/>
              <a:t>High variance in ENERGY indicates potential for cost reduction by improving energy consumption practices.</a:t>
            </a:r>
            <a:br>
              <a:rPr lang="en-US" sz="2800" dirty="0"/>
            </a:br>
            <a:br>
              <a:rPr lang="en-US" sz="2800" dirty="0"/>
            </a:br>
            <a:endParaRPr lang="en-IN" sz="2800" dirty="0"/>
          </a:p>
        </p:txBody>
      </p:sp>
      <p:pic>
        <p:nvPicPr>
          <p:cNvPr id="5" name="Picture 4">
            <a:extLst>
              <a:ext uri="{FF2B5EF4-FFF2-40B4-BE49-F238E27FC236}">
                <a16:creationId xmlns:a16="http://schemas.microsoft.com/office/drawing/2014/main" id="{F7E36204-83F7-DD8F-93DB-E333462D4F65}"/>
              </a:ext>
            </a:extLst>
          </p:cNvPr>
          <p:cNvPicPr>
            <a:picLocks noChangeAspect="1"/>
          </p:cNvPicPr>
          <p:nvPr/>
        </p:nvPicPr>
        <p:blipFill>
          <a:blip r:embed="rId2"/>
          <a:stretch>
            <a:fillRect/>
          </a:stretch>
        </p:blipFill>
        <p:spPr>
          <a:xfrm>
            <a:off x="9377364" y="6086475"/>
            <a:ext cx="2814636" cy="771525"/>
          </a:xfrm>
          <a:prstGeom prst="rect">
            <a:avLst/>
          </a:prstGeom>
        </p:spPr>
      </p:pic>
    </p:spTree>
    <p:extLst>
      <p:ext uri="{BB962C8B-B14F-4D97-AF65-F5344CB8AC3E}">
        <p14:creationId xmlns:p14="http://schemas.microsoft.com/office/powerpoint/2010/main" val="27352134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F122A86-AFF6-BE19-C34B-DBF50149540C}"/>
              </a:ext>
            </a:extLst>
          </p:cNvPr>
          <p:cNvSpPr txBox="1"/>
          <p:nvPr/>
        </p:nvSpPr>
        <p:spPr>
          <a:xfrm>
            <a:off x="1" y="1"/>
            <a:ext cx="11403806" cy="4401205"/>
          </a:xfrm>
          <a:prstGeom prst="rect">
            <a:avLst/>
          </a:prstGeom>
          <a:noFill/>
        </p:spPr>
        <p:txBody>
          <a:bodyPr wrap="square">
            <a:spAutoFit/>
          </a:bodyPr>
          <a:lstStyle/>
          <a:p>
            <a:r>
              <a:rPr lang="en-US" sz="2800" b="1" dirty="0"/>
              <a:t>3. Production Efficiency</a:t>
            </a:r>
            <a:r>
              <a:rPr lang="en-US" sz="2800" dirty="0"/>
              <a:t>: Weak correlation between COKE_REQ and SCRAP QTY highlights the need for independent optimization of both.</a:t>
            </a:r>
            <a:br>
              <a:rPr lang="en-US" sz="2800" dirty="0"/>
            </a:br>
            <a:br>
              <a:rPr lang="en-US" sz="2800" dirty="0"/>
            </a:br>
            <a:r>
              <a:rPr lang="en-US" sz="2800" b="1" dirty="0"/>
              <a:t>4. Quality Control: </a:t>
            </a:r>
            <a:r>
              <a:rPr lang="en-US" sz="2800" dirty="0"/>
              <a:t>Outliers in HOT METAL and PIGIRON suggest improving consistency in production to enhance product quality.</a:t>
            </a:r>
            <a:br>
              <a:rPr lang="en-US" sz="2800" dirty="0"/>
            </a:br>
            <a:br>
              <a:rPr lang="en-US" sz="2800" dirty="0"/>
            </a:br>
            <a:r>
              <a:rPr lang="en-US" sz="2800" b="1" dirty="0"/>
              <a:t>5. Process Stability: </a:t>
            </a:r>
            <a:r>
              <a:rPr lang="en-US" sz="2800" dirty="0"/>
              <a:t>High variance in MELT TIME points to process instability, which can be addressed to improve predictability and efficiency.</a:t>
            </a:r>
            <a:br>
              <a:rPr lang="en-IN" sz="2800" dirty="0"/>
            </a:br>
            <a:endParaRPr lang="en-IN" sz="2800" dirty="0"/>
          </a:p>
        </p:txBody>
      </p:sp>
      <p:pic>
        <p:nvPicPr>
          <p:cNvPr id="3" name="Picture 2">
            <a:extLst>
              <a:ext uri="{FF2B5EF4-FFF2-40B4-BE49-F238E27FC236}">
                <a16:creationId xmlns:a16="http://schemas.microsoft.com/office/drawing/2014/main" id="{0BE7753E-F5DD-65B2-023E-186B0F6B00FE}"/>
              </a:ext>
            </a:extLst>
          </p:cNvPr>
          <p:cNvPicPr>
            <a:picLocks noChangeAspect="1"/>
          </p:cNvPicPr>
          <p:nvPr/>
        </p:nvPicPr>
        <p:blipFill>
          <a:blip r:embed="rId2"/>
          <a:stretch>
            <a:fillRect/>
          </a:stretch>
        </p:blipFill>
        <p:spPr>
          <a:xfrm>
            <a:off x="9658350" y="5794296"/>
            <a:ext cx="2533650" cy="1063704"/>
          </a:xfrm>
          <a:prstGeom prst="rect">
            <a:avLst/>
          </a:prstGeom>
        </p:spPr>
      </p:pic>
    </p:spTree>
    <p:extLst>
      <p:ext uri="{BB962C8B-B14F-4D97-AF65-F5344CB8AC3E}">
        <p14:creationId xmlns:p14="http://schemas.microsoft.com/office/powerpoint/2010/main" val="39133153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4A0279-F826-E4A7-A2FC-7035458A9849}"/>
              </a:ext>
            </a:extLst>
          </p:cNvPr>
          <p:cNvSpPr>
            <a:spLocks noGrp="1"/>
          </p:cNvSpPr>
          <p:nvPr>
            <p:ph type="title"/>
          </p:nvPr>
        </p:nvSpPr>
        <p:spPr>
          <a:xfrm>
            <a:off x="0" y="1"/>
            <a:ext cx="12192000" cy="6858000"/>
          </a:xfrm>
        </p:spPr>
        <p:txBody>
          <a:bodyPr>
            <a:normAutofit fontScale="90000"/>
          </a:bodyPr>
          <a:lstStyle/>
          <a:p>
            <a:r>
              <a:rPr lang="en-US" sz="3200" b="1" dirty="0"/>
              <a:t>Missing Values Observation</a:t>
            </a:r>
            <a:br>
              <a:rPr lang="en-US" sz="3200" b="1" dirty="0"/>
            </a:br>
            <a:r>
              <a:rPr lang="en-US" sz="3100" b="1" dirty="0"/>
              <a:t>Missing Data:</a:t>
            </a:r>
            <a:br>
              <a:rPr lang="en-US" sz="3100" dirty="0"/>
            </a:br>
            <a:r>
              <a:rPr lang="en-US" sz="3100" b="1" dirty="0"/>
              <a:t>LAB_REP_TIME: </a:t>
            </a:r>
            <a:r>
              <a:rPr lang="en-US" sz="3100" dirty="0"/>
              <a:t>29 missing (forward-filled) PREV_TAP_TIME: 3 missing (backward-filled) </a:t>
            </a:r>
            <a:br>
              <a:rPr lang="en-US" sz="3100" dirty="0"/>
            </a:br>
            <a:r>
              <a:rPr lang="en-US" sz="3100" b="1" dirty="0"/>
              <a:t>Production (MT): </a:t>
            </a:r>
            <a:r>
              <a:rPr lang="en-US" sz="3100" dirty="0"/>
              <a:t>1 missing (median imputed)</a:t>
            </a:r>
            <a:br>
              <a:rPr lang="en-US" sz="3100" dirty="0"/>
            </a:br>
            <a:br>
              <a:rPr lang="en-US" sz="3100" dirty="0"/>
            </a:br>
            <a:r>
              <a:rPr lang="en-US" sz="3100" b="1" dirty="0"/>
              <a:t>Imputation Strategy:</a:t>
            </a:r>
            <a:br>
              <a:rPr lang="en-US" sz="3100" dirty="0"/>
            </a:br>
            <a:r>
              <a:rPr lang="en-US" sz="3100" dirty="0"/>
              <a:t>Categorical Features: Mode imputation.</a:t>
            </a:r>
            <a:br>
              <a:rPr lang="en-US" sz="3100" dirty="0"/>
            </a:br>
            <a:br>
              <a:rPr lang="en-US" sz="3100" dirty="0"/>
            </a:br>
            <a:r>
              <a:rPr lang="en-US" sz="3100" b="1" dirty="0"/>
              <a:t>Numerical Features: </a:t>
            </a:r>
            <a:r>
              <a:rPr lang="en-US" sz="3100" dirty="0"/>
              <a:t>Forward-fill, backward-fill, and median imputation for appropriate columns. </a:t>
            </a:r>
            <a:br>
              <a:rPr lang="en-US" sz="3100" dirty="0"/>
            </a:br>
            <a:br>
              <a:rPr lang="en-US" sz="3100" b="1" dirty="0"/>
            </a:br>
            <a:r>
              <a:rPr lang="en-US" sz="3100" b="1" dirty="0" err="1"/>
              <a:t>Reason:</a:t>
            </a:r>
            <a:r>
              <a:rPr lang="en-US" sz="3100" dirty="0" err="1"/>
              <a:t>Mode</a:t>
            </a:r>
            <a:r>
              <a:rPr lang="en-US" sz="3100" dirty="0"/>
              <a:t> for categorical to preserve common categories.</a:t>
            </a:r>
            <a:br>
              <a:rPr lang="en-US" sz="3100" dirty="0"/>
            </a:br>
            <a:r>
              <a:rPr lang="en-US" sz="3100" dirty="0"/>
              <a:t>                 Median/Fill for numerical to maintain distribution and time continuity.</a:t>
            </a:r>
            <a:br>
              <a:rPr lang="en-US" sz="3100" dirty="0"/>
            </a:br>
            <a:br>
              <a:rPr lang="en-US" sz="3100" dirty="0"/>
            </a:br>
            <a:r>
              <a:rPr lang="en-US" sz="3200" b="1" dirty="0"/>
              <a:t>Impact:</a:t>
            </a:r>
            <a:br>
              <a:rPr lang="en-US" sz="3200" b="1" dirty="0"/>
            </a:br>
            <a:r>
              <a:rPr lang="en-US" sz="3100" dirty="0"/>
              <a:t>Missing values handled without data loss or significant distortion.</a:t>
            </a:r>
            <a:br>
              <a:rPr lang="en-US" sz="3200" b="1" dirty="0"/>
            </a:br>
            <a:endParaRPr lang="en-IN" sz="2800" dirty="0"/>
          </a:p>
        </p:txBody>
      </p:sp>
      <p:pic>
        <p:nvPicPr>
          <p:cNvPr id="4" name="Picture 3">
            <a:extLst>
              <a:ext uri="{FF2B5EF4-FFF2-40B4-BE49-F238E27FC236}">
                <a16:creationId xmlns:a16="http://schemas.microsoft.com/office/drawing/2014/main" id="{C19F1A3C-51CD-F199-5383-0EAAF6A3B3C5}"/>
              </a:ext>
            </a:extLst>
          </p:cNvPr>
          <p:cNvPicPr>
            <a:picLocks noChangeAspect="1"/>
          </p:cNvPicPr>
          <p:nvPr/>
        </p:nvPicPr>
        <p:blipFill>
          <a:blip r:embed="rId2"/>
          <a:stretch>
            <a:fillRect/>
          </a:stretch>
        </p:blipFill>
        <p:spPr>
          <a:xfrm>
            <a:off x="10172700" y="5767385"/>
            <a:ext cx="2019300" cy="1090614"/>
          </a:xfrm>
          <a:prstGeom prst="rect">
            <a:avLst/>
          </a:prstGeom>
        </p:spPr>
      </p:pic>
    </p:spTree>
    <p:extLst>
      <p:ext uri="{BB962C8B-B14F-4D97-AF65-F5344CB8AC3E}">
        <p14:creationId xmlns:p14="http://schemas.microsoft.com/office/powerpoint/2010/main" val="18557423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3E3F03-AA06-FD36-62F0-6A15DB5804B0}"/>
              </a:ext>
            </a:extLst>
          </p:cNvPr>
          <p:cNvSpPr>
            <a:spLocks noGrp="1"/>
          </p:cNvSpPr>
          <p:nvPr>
            <p:ph type="title"/>
          </p:nvPr>
        </p:nvSpPr>
        <p:spPr>
          <a:xfrm>
            <a:off x="0" y="0"/>
            <a:ext cx="12192000" cy="6857999"/>
          </a:xfrm>
        </p:spPr>
        <p:txBody>
          <a:bodyPr>
            <a:normAutofit/>
          </a:bodyPr>
          <a:lstStyle/>
          <a:p>
            <a:r>
              <a:rPr lang="en-US" sz="2800" b="1" dirty="0"/>
              <a:t>Data Preprocessing:</a:t>
            </a:r>
            <a:br>
              <a:rPr lang="en-US" sz="2800" b="1" dirty="0"/>
            </a:br>
            <a:br>
              <a:rPr lang="en-US" sz="2800" dirty="0"/>
            </a:br>
            <a:r>
              <a:rPr lang="en-US" sz="2800" b="1" dirty="0"/>
              <a:t>Missing Values: </a:t>
            </a:r>
            <a:r>
              <a:rPr lang="en-US" sz="2800" dirty="0"/>
              <a:t>Imputed categorical data with mode and numerical data with median or forward/backward fill.</a:t>
            </a:r>
            <a:br>
              <a:rPr lang="en-US" sz="2800" dirty="0"/>
            </a:br>
            <a:br>
              <a:rPr lang="en-US" sz="2800" dirty="0"/>
            </a:br>
            <a:r>
              <a:rPr lang="en-US" sz="2800" b="1" dirty="0"/>
              <a:t>Outliers: </a:t>
            </a:r>
            <a:r>
              <a:rPr lang="en-US" sz="2800" dirty="0"/>
              <a:t>Detected using IQR and capped at valid boundaries.</a:t>
            </a:r>
            <a:br>
              <a:rPr lang="en-US" sz="2800" dirty="0"/>
            </a:br>
            <a:br>
              <a:rPr lang="en-US" sz="2800" dirty="0"/>
            </a:br>
            <a:r>
              <a:rPr lang="en-US" sz="2800" b="1" dirty="0"/>
              <a:t>Variable Transformation: </a:t>
            </a:r>
            <a:r>
              <a:rPr lang="en-US" sz="2800" dirty="0"/>
              <a:t>Applied log and square root transformations to handle skewed data.</a:t>
            </a:r>
            <a:br>
              <a:rPr lang="en-US" sz="2800" dirty="0"/>
            </a:br>
            <a:br>
              <a:rPr lang="en-US" sz="2800" dirty="0"/>
            </a:br>
            <a:br>
              <a:rPr lang="en-US" sz="2800" dirty="0"/>
            </a:br>
            <a:endParaRPr lang="en-IN" sz="2800" dirty="0"/>
          </a:p>
        </p:txBody>
      </p:sp>
      <p:pic>
        <p:nvPicPr>
          <p:cNvPr id="4" name="Picture 3">
            <a:extLst>
              <a:ext uri="{FF2B5EF4-FFF2-40B4-BE49-F238E27FC236}">
                <a16:creationId xmlns:a16="http://schemas.microsoft.com/office/drawing/2014/main" id="{D0106E0E-3B1A-75C6-FEE1-9B4CD5A66FDF}"/>
              </a:ext>
            </a:extLst>
          </p:cNvPr>
          <p:cNvPicPr>
            <a:picLocks noChangeAspect="1"/>
          </p:cNvPicPr>
          <p:nvPr/>
        </p:nvPicPr>
        <p:blipFill>
          <a:blip r:embed="rId2"/>
          <a:stretch>
            <a:fillRect/>
          </a:stretch>
        </p:blipFill>
        <p:spPr>
          <a:xfrm>
            <a:off x="9144000" y="5629274"/>
            <a:ext cx="2905125" cy="1028699"/>
          </a:xfrm>
          <a:prstGeom prst="rect">
            <a:avLst/>
          </a:prstGeom>
        </p:spPr>
      </p:pic>
    </p:spTree>
    <p:extLst>
      <p:ext uri="{BB962C8B-B14F-4D97-AF65-F5344CB8AC3E}">
        <p14:creationId xmlns:p14="http://schemas.microsoft.com/office/powerpoint/2010/main" val="35956329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816B5B-B22F-D352-C87F-DE680DB58932}"/>
              </a:ext>
            </a:extLst>
          </p:cNvPr>
          <p:cNvSpPr>
            <a:spLocks noGrp="1"/>
          </p:cNvSpPr>
          <p:nvPr>
            <p:ph type="title"/>
          </p:nvPr>
        </p:nvSpPr>
        <p:spPr>
          <a:xfrm>
            <a:off x="0" y="1"/>
            <a:ext cx="12192000" cy="6629400"/>
          </a:xfrm>
        </p:spPr>
        <p:txBody>
          <a:bodyPr>
            <a:normAutofit/>
          </a:bodyPr>
          <a:lstStyle/>
          <a:p>
            <a:r>
              <a:rPr lang="en-US" sz="2800" b="1" dirty="0"/>
              <a:t>Scaling: </a:t>
            </a:r>
            <a:r>
              <a:rPr lang="en-US" sz="2800" dirty="0"/>
              <a:t>Used </a:t>
            </a:r>
            <a:r>
              <a:rPr lang="en-US" sz="2800" dirty="0" err="1"/>
              <a:t>RobustScaler</a:t>
            </a:r>
            <a:r>
              <a:rPr lang="en-US" sz="2800" dirty="0"/>
              <a:t> to scale numerical </a:t>
            </a:r>
            <a:br>
              <a:rPr lang="en-US" sz="2800" dirty="0"/>
            </a:br>
            <a:r>
              <a:rPr lang="en-US" sz="2800" dirty="0"/>
              <a:t>features, ensuring robustness to outliers.</a:t>
            </a:r>
            <a:br>
              <a:rPr lang="en-US" sz="2800" dirty="0"/>
            </a:br>
            <a:br>
              <a:rPr lang="en-US" sz="2800" dirty="0"/>
            </a:br>
            <a:br>
              <a:rPr lang="en-US" sz="2800" dirty="0"/>
            </a:br>
            <a:r>
              <a:rPr lang="en-US" sz="2800" b="1" dirty="0"/>
              <a:t>Encoding: </a:t>
            </a:r>
            <a:r>
              <a:rPr lang="en-US" sz="2800" dirty="0"/>
              <a:t>One-hot encoded categorical features like GRADE and SECTION_IC.</a:t>
            </a:r>
            <a:br>
              <a:rPr lang="en-US" sz="2800" dirty="0"/>
            </a:br>
            <a:br>
              <a:rPr lang="en-US" sz="2800" dirty="0"/>
            </a:br>
            <a:br>
              <a:rPr lang="en-US" sz="2800" dirty="0"/>
            </a:br>
            <a:r>
              <a:rPr lang="en-US" sz="2800" b="1" dirty="0"/>
              <a:t>Feature Engineering: </a:t>
            </a:r>
            <a:r>
              <a:rPr lang="en-US" sz="2800" dirty="0"/>
              <a:t>Created time-based features (year, month, day) and calculated time differences (e.g., </a:t>
            </a:r>
            <a:r>
              <a:rPr lang="en-US" sz="2800" dirty="0" err="1"/>
              <a:t>pow_on_to_tap_diff</a:t>
            </a:r>
            <a:r>
              <a:rPr lang="en-US" sz="2800" dirty="0"/>
              <a:t>).</a:t>
            </a:r>
            <a:endParaRPr lang="en-IN" sz="2800" dirty="0"/>
          </a:p>
        </p:txBody>
      </p:sp>
      <p:pic>
        <p:nvPicPr>
          <p:cNvPr id="3" name="Picture 2">
            <a:extLst>
              <a:ext uri="{FF2B5EF4-FFF2-40B4-BE49-F238E27FC236}">
                <a16:creationId xmlns:a16="http://schemas.microsoft.com/office/drawing/2014/main" id="{68999EEA-413B-0F87-13D7-13B760EA59E2}"/>
              </a:ext>
            </a:extLst>
          </p:cNvPr>
          <p:cNvPicPr>
            <a:picLocks noChangeAspect="1"/>
          </p:cNvPicPr>
          <p:nvPr/>
        </p:nvPicPr>
        <p:blipFill>
          <a:blip r:embed="rId2"/>
          <a:stretch>
            <a:fillRect/>
          </a:stretch>
        </p:blipFill>
        <p:spPr>
          <a:xfrm>
            <a:off x="9128253" y="5714193"/>
            <a:ext cx="2908044" cy="1030313"/>
          </a:xfrm>
          <a:prstGeom prst="rect">
            <a:avLst/>
          </a:prstGeom>
        </p:spPr>
      </p:pic>
    </p:spTree>
    <p:extLst>
      <p:ext uri="{BB962C8B-B14F-4D97-AF65-F5344CB8AC3E}">
        <p14:creationId xmlns:p14="http://schemas.microsoft.com/office/powerpoint/2010/main" val="27213448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E86C83-B2F0-0479-0502-42CC684742AD}"/>
              </a:ext>
            </a:extLst>
          </p:cNvPr>
          <p:cNvSpPr>
            <a:spLocks noGrp="1"/>
          </p:cNvSpPr>
          <p:nvPr>
            <p:ph type="title"/>
          </p:nvPr>
        </p:nvSpPr>
        <p:spPr>
          <a:xfrm>
            <a:off x="-84841" y="365125"/>
            <a:ext cx="12276841" cy="6492875"/>
          </a:xfrm>
        </p:spPr>
        <p:txBody>
          <a:bodyPr>
            <a:normAutofit/>
          </a:bodyPr>
          <a:lstStyle/>
          <a:p>
            <a:br>
              <a:rPr lang="en-US" dirty="0"/>
            </a:br>
            <a:endParaRPr lang="en-IN" dirty="0"/>
          </a:p>
        </p:txBody>
      </p:sp>
      <p:pic>
        <p:nvPicPr>
          <p:cNvPr id="4" name="Picture 3">
            <a:extLst>
              <a:ext uri="{FF2B5EF4-FFF2-40B4-BE49-F238E27FC236}">
                <a16:creationId xmlns:a16="http://schemas.microsoft.com/office/drawing/2014/main" id="{4876799F-77FC-03B1-076D-8992BDD2C8C2}"/>
              </a:ext>
            </a:extLst>
          </p:cNvPr>
          <p:cNvPicPr>
            <a:picLocks noChangeAspect="1"/>
          </p:cNvPicPr>
          <p:nvPr/>
        </p:nvPicPr>
        <p:blipFill>
          <a:blip r:embed="rId2"/>
          <a:stretch>
            <a:fillRect/>
          </a:stretch>
        </p:blipFill>
        <p:spPr>
          <a:xfrm>
            <a:off x="9429750" y="5886450"/>
            <a:ext cx="2762250" cy="971550"/>
          </a:xfrm>
          <a:prstGeom prst="rect">
            <a:avLst/>
          </a:prstGeom>
        </p:spPr>
      </p:pic>
      <p:sp>
        <p:nvSpPr>
          <p:cNvPr id="7" name="TextBox 6">
            <a:extLst>
              <a:ext uri="{FF2B5EF4-FFF2-40B4-BE49-F238E27FC236}">
                <a16:creationId xmlns:a16="http://schemas.microsoft.com/office/drawing/2014/main" id="{A85D6C52-03EC-A4B8-14BC-03FD12F3B1D4}"/>
              </a:ext>
            </a:extLst>
          </p:cNvPr>
          <p:cNvSpPr txBox="1"/>
          <p:nvPr/>
        </p:nvSpPr>
        <p:spPr>
          <a:xfrm>
            <a:off x="0" y="-1"/>
            <a:ext cx="12192001" cy="6986528"/>
          </a:xfrm>
          <a:prstGeom prst="rect">
            <a:avLst/>
          </a:prstGeom>
          <a:noFill/>
        </p:spPr>
        <p:txBody>
          <a:bodyPr wrap="square">
            <a:spAutoFit/>
          </a:bodyPr>
          <a:lstStyle/>
          <a:p>
            <a:r>
              <a:rPr lang="en-IN" sz="2800" b="1" dirty="0"/>
              <a:t>Model Building:</a:t>
            </a:r>
          </a:p>
          <a:p>
            <a:r>
              <a:rPr lang="en-IN" sz="2800" b="1" dirty="0"/>
              <a:t>Introduction-</a:t>
            </a:r>
          </a:p>
          <a:p>
            <a:r>
              <a:rPr lang="en-IN" sz="2800" dirty="0"/>
              <a:t>Multiple models were evaluated to classify data into two classes. </a:t>
            </a:r>
            <a:r>
              <a:rPr lang="en-IN" sz="2800" dirty="0" err="1"/>
              <a:t>XGBoost</a:t>
            </a:r>
            <a:r>
              <a:rPr lang="en-IN" sz="2800" dirty="0"/>
              <a:t> was chosen for its high performance.</a:t>
            </a:r>
          </a:p>
          <a:p>
            <a:endParaRPr lang="en-IN" sz="2800" dirty="0"/>
          </a:p>
          <a:p>
            <a:r>
              <a:rPr lang="en-IN" sz="2800" b="1" dirty="0"/>
              <a:t>Models Tested-</a:t>
            </a:r>
          </a:p>
          <a:p>
            <a:r>
              <a:rPr lang="en-IN" sz="2800" dirty="0"/>
              <a:t>Logistic Regression, SVM, Random Forest, Gradient Boosting, AdaBoost, KNN, Decision Tree, Naive Bayes, Ridge Classifier, </a:t>
            </a:r>
            <a:r>
              <a:rPr lang="en-IN" sz="2800" dirty="0" err="1"/>
              <a:t>XGBoost</a:t>
            </a:r>
            <a:r>
              <a:rPr lang="en-IN" sz="2800" dirty="0"/>
              <a:t>.</a:t>
            </a:r>
          </a:p>
          <a:p>
            <a:endParaRPr lang="en-IN" sz="2800" dirty="0"/>
          </a:p>
          <a:p>
            <a:r>
              <a:rPr lang="en-IN" sz="2800" b="1" dirty="0"/>
              <a:t>Key Findings-</a:t>
            </a:r>
          </a:p>
          <a:p>
            <a:r>
              <a:rPr lang="en-IN" sz="2800" dirty="0" err="1"/>
              <a:t>XGBoost</a:t>
            </a:r>
            <a:r>
              <a:rPr lang="en-IN" sz="2800" dirty="0"/>
              <a:t>: Best performance with 97.09% test accuracy, balanced precision and recall, and low overfitting. Other models like Random Forest and Gradient Boosting were strong contenders but didn’t outperform </a:t>
            </a:r>
            <a:r>
              <a:rPr lang="en-IN" sz="2800" dirty="0" err="1"/>
              <a:t>XGBoost</a:t>
            </a:r>
            <a:r>
              <a:rPr lang="en-IN" sz="2800" dirty="0"/>
              <a:t>.</a:t>
            </a:r>
          </a:p>
          <a:p>
            <a:endParaRPr lang="en-IN" sz="2800" dirty="0"/>
          </a:p>
          <a:p>
            <a:r>
              <a:rPr lang="en-IN" sz="2800" b="1" dirty="0"/>
              <a:t>Final Model-</a:t>
            </a:r>
          </a:p>
          <a:p>
            <a:r>
              <a:rPr lang="en-IN" sz="2800" dirty="0" err="1"/>
              <a:t>XGBoost</a:t>
            </a:r>
            <a:r>
              <a:rPr lang="en-IN" sz="2800" dirty="0"/>
              <a:t> was selected due to its top performance and efficiency.</a:t>
            </a:r>
          </a:p>
        </p:txBody>
      </p:sp>
    </p:spTree>
    <p:extLst>
      <p:ext uri="{BB962C8B-B14F-4D97-AF65-F5344CB8AC3E}">
        <p14:creationId xmlns:p14="http://schemas.microsoft.com/office/powerpoint/2010/main" val="19595747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81AF28B-9382-5628-953E-8A4FD1FAD49C}"/>
              </a:ext>
            </a:extLst>
          </p:cNvPr>
          <p:cNvPicPr>
            <a:picLocks noChangeAspect="1"/>
          </p:cNvPicPr>
          <p:nvPr/>
        </p:nvPicPr>
        <p:blipFill>
          <a:blip r:embed="rId2"/>
          <a:stretch>
            <a:fillRect/>
          </a:stretch>
        </p:blipFill>
        <p:spPr>
          <a:xfrm>
            <a:off x="-16633" y="0"/>
            <a:ext cx="12225267" cy="6858000"/>
          </a:xfrm>
          <a:prstGeom prst="rect">
            <a:avLst/>
          </a:prstGeom>
        </p:spPr>
      </p:pic>
    </p:spTree>
    <p:extLst>
      <p:ext uri="{BB962C8B-B14F-4D97-AF65-F5344CB8AC3E}">
        <p14:creationId xmlns:p14="http://schemas.microsoft.com/office/powerpoint/2010/main" val="34009632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BC50B22-9A07-304C-2791-42651AEB124A}"/>
              </a:ext>
            </a:extLst>
          </p:cNvPr>
          <p:cNvSpPr txBox="1"/>
          <p:nvPr/>
        </p:nvSpPr>
        <p:spPr>
          <a:xfrm>
            <a:off x="0" y="0"/>
            <a:ext cx="12192000" cy="7048083"/>
          </a:xfrm>
          <a:prstGeom prst="rect">
            <a:avLst/>
          </a:prstGeom>
          <a:noFill/>
        </p:spPr>
        <p:txBody>
          <a:bodyPr wrap="square">
            <a:spAutoFit/>
          </a:bodyPr>
          <a:lstStyle/>
          <a:p>
            <a:r>
              <a:rPr lang="en-IN" sz="3200" b="1" dirty="0"/>
              <a:t>Key Challenges in Steel Manufacturing Operations:</a:t>
            </a:r>
          </a:p>
          <a:p>
            <a:r>
              <a:rPr lang="en-IN" sz="2800" b="1" dirty="0"/>
              <a:t>Fluctuating Demand:</a:t>
            </a:r>
          </a:p>
          <a:p>
            <a:r>
              <a:rPr lang="en-IN" sz="2800" dirty="0"/>
              <a:t>Steel grade demand varies due to market conditions, customer requirements, and production schedules. Without accurate demand prediction, resources may be underutilized or production may fail to meet demand, causing inefficiencies.</a:t>
            </a:r>
          </a:p>
          <a:p>
            <a:endParaRPr lang="en-IN" sz="2800" b="1" dirty="0"/>
          </a:p>
          <a:p>
            <a:r>
              <a:rPr lang="en-IN" sz="2800" b="1" dirty="0"/>
              <a:t>Operational Costs:</a:t>
            </a:r>
          </a:p>
          <a:p>
            <a:r>
              <a:rPr lang="en-IN" sz="2800" dirty="0"/>
              <a:t>Mismanagement of resources, including </a:t>
            </a:r>
            <a:r>
              <a:rPr lang="en-IN" sz="2800" dirty="0" err="1"/>
              <a:t>labor</a:t>
            </a:r>
            <a:r>
              <a:rPr lang="en-IN" sz="2800" dirty="0"/>
              <a:t>, energy, and raw materials, leads to high operational costs. Overstaffing or understaffing, along with inefficient production of low-demand steel grades, increases expenses.</a:t>
            </a:r>
          </a:p>
          <a:p>
            <a:endParaRPr lang="en-IN" sz="2800" dirty="0"/>
          </a:p>
          <a:p>
            <a:r>
              <a:rPr lang="en-IN" sz="2800" b="1" dirty="0"/>
              <a:t>Environmental Impact:</a:t>
            </a:r>
          </a:p>
          <a:p>
            <a:r>
              <a:rPr lang="en-IN" sz="2800" dirty="0"/>
              <a:t>Steel production is energy-intensive. Inefficient scheduling and resource usage contribute to excess fuel consumption and higher CO2 emissions, hindering sustainability goals.</a:t>
            </a:r>
          </a:p>
        </p:txBody>
      </p:sp>
    </p:spTree>
    <p:extLst>
      <p:ext uri="{BB962C8B-B14F-4D97-AF65-F5344CB8AC3E}">
        <p14:creationId xmlns:p14="http://schemas.microsoft.com/office/powerpoint/2010/main" val="6801676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9C10A7-2BA6-9C81-4DFE-40566B033551}"/>
              </a:ext>
            </a:extLst>
          </p:cNvPr>
          <p:cNvSpPr>
            <a:spLocks noGrp="1"/>
          </p:cNvSpPr>
          <p:nvPr>
            <p:ph type="title"/>
          </p:nvPr>
        </p:nvSpPr>
        <p:spPr>
          <a:xfrm>
            <a:off x="838200" y="365125"/>
            <a:ext cx="11096134" cy="5545481"/>
          </a:xfrm>
        </p:spPr>
        <p:txBody>
          <a:bodyPr>
            <a:normAutofit/>
          </a:bodyPr>
          <a:lstStyle/>
          <a:p>
            <a:r>
              <a:rPr lang="en-US" sz="3600" b="1" dirty="0"/>
              <a:t>5. DEPLOYMENT CHALLENGES (STREAMLIT)</a:t>
            </a:r>
            <a:br>
              <a:rPr lang="en-US" b="1" dirty="0"/>
            </a:br>
            <a:r>
              <a:rPr lang="en-US" sz="3600" b="1" dirty="0"/>
              <a:t>LATENCY ISSUES:</a:t>
            </a:r>
            <a:r>
              <a:rPr lang="en-US" sz="3600" dirty="0"/>
              <a:t> </a:t>
            </a:r>
            <a:r>
              <a:rPr lang="en-US" sz="3100" dirty="0"/>
              <a:t>REAL-TIME OBJECT DETECTION MAY SLOW DOWN DUE TO LARGE IMAGE SIZES.</a:t>
            </a:r>
            <a:br>
              <a:rPr lang="en-US" sz="3100" dirty="0"/>
            </a:br>
            <a:br>
              <a:rPr lang="en-US" sz="3100" dirty="0"/>
            </a:br>
            <a:r>
              <a:rPr lang="en-US" sz="3600" b="1" dirty="0"/>
              <a:t>USER-FRIENDLY INTERFACE:</a:t>
            </a:r>
            <a:r>
              <a:rPr lang="en-US" sz="3600" dirty="0"/>
              <a:t> </a:t>
            </a:r>
            <a:r>
              <a:rPr lang="en-US" sz="3100" dirty="0"/>
              <a:t>ENSURING A SIMPLE AND INTERACTIVE UI FOR NON-TECHNICAL USERS.</a:t>
            </a:r>
            <a:br>
              <a:rPr lang="en-US" sz="3100" dirty="0"/>
            </a:br>
            <a:br>
              <a:rPr lang="en-US" dirty="0"/>
            </a:br>
            <a:r>
              <a:rPr lang="en-US" sz="3600" b="1" dirty="0"/>
              <a:t>INTEGRATION WITH EXISTING SYSTEMS:</a:t>
            </a:r>
            <a:br>
              <a:rPr lang="en-US" sz="3600" b="1" dirty="0"/>
            </a:br>
            <a:r>
              <a:rPr lang="en-US" sz="3100" dirty="0"/>
              <a:t> MANY COMPANIES HAVE LEGACY SAFETY MONITORING SYSTEMS THAT NEED SEAMLESS INTEGRATION.</a:t>
            </a:r>
            <a:br>
              <a:rPr lang="en-US" dirty="0"/>
            </a:br>
            <a:endParaRPr lang="en-IN" dirty="0"/>
          </a:p>
        </p:txBody>
      </p:sp>
      <p:pic>
        <p:nvPicPr>
          <p:cNvPr id="4" name="Picture 3">
            <a:extLst>
              <a:ext uri="{FF2B5EF4-FFF2-40B4-BE49-F238E27FC236}">
                <a16:creationId xmlns:a16="http://schemas.microsoft.com/office/drawing/2014/main" id="{AFA73FF1-2674-61C8-0A01-C673BC70B20B}"/>
              </a:ext>
            </a:extLst>
          </p:cNvPr>
          <p:cNvPicPr>
            <a:picLocks noChangeAspect="1"/>
          </p:cNvPicPr>
          <p:nvPr/>
        </p:nvPicPr>
        <p:blipFill>
          <a:blip r:embed="rId2"/>
          <a:stretch>
            <a:fillRect/>
          </a:stretch>
        </p:blipFill>
        <p:spPr>
          <a:xfrm>
            <a:off x="10287000" y="5910606"/>
            <a:ext cx="1905000" cy="947394"/>
          </a:xfrm>
          <a:prstGeom prst="rect">
            <a:avLst/>
          </a:prstGeom>
        </p:spPr>
      </p:pic>
    </p:spTree>
    <p:extLst>
      <p:ext uri="{BB962C8B-B14F-4D97-AF65-F5344CB8AC3E}">
        <p14:creationId xmlns:p14="http://schemas.microsoft.com/office/powerpoint/2010/main" val="33084006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005500-FE9A-84B4-A0C9-6FE58A35A7B4}"/>
              </a:ext>
            </a:extLst>
          </p:cNvPr>
          <p:cNvSpPr>
            <a:spLocks noGrp="1"/>
          </p:cNvSpPr>
          <p:nvPr>
            <p:ph type="title"/>
          </p:nvPr>
        </p:nvSpPr>
        <p:spPr>
          <a:xfrm>
            <a:off x="838200" y="365125"/>
            <a:ext cx="11171548" cy="5319238"/>
          </a:xfrm>
        </p:spPr>
        <p:txBody>
          <a:bodyPr>
            <a:normAutofit/>
          </a:bodyPr>
          <a:lstStyle/>
          <a:p>
            <a:r>
              <a:rPr lang="en-US" sz="3600" b="1" dirty="0"/>
              <a:t>6. BUSINESS &amp; ECONOMIC CHALLENGES</a:t>
            </a:r>
            <a:br>
              <a:rPr lang="en-US" b="1" dirty="0"/>
            </a:br>
            <a:r>
              <a:rPr lang="en-US" sz="3600" b="1" dirty="0"/>
              <a:t>ADOPTION RESISTANCE:</a:t>
            </a:r>
            <a:r>
              <a:rPr lang="en-US" sz="3600" dirty="0"/>
              <a:t> </a:t>
            </a:r>
            <a:r>
              <a:rPr lang="en-US" sz="3100" dirty="0"/>
              <a:t>EMPLOYEES MAY RESIST AI-BASED MONITORING DUE TO PRIVACY CONCERNS.</a:t>
            </a:r>
            <a:br>
              <a:rPr lang="en-US" sz="3100" dirty="0"/>
            </a:br>
            <a:br>
              <a:rPr lang="en-US" dirty="0"/>
            </a:br>
            <a:r>
              <a:rPr lang="en-US" sz="3600" b="1" dirty="0"/>
              <a:t>COST CONSTRAINTS:</a:t>
            </a:r>
            <a:r>
              <a:rPr lang="en-US" sz="3600" dirty="0"/>
              <a:t> </a:t>
            </a:r>
            <a:r>
              <a:rPr lang="en-US" sz="3100" dirty="0"/>
              <a:t>BALANCING MODEL ACCURACY WHILE KEEPING DEPLOYMENT AND MAINTENANCE COSTS LOW.</a:t>
            </a:r>
            <a:br>
              <a:rPr lang="en-US" sz="3100" dirty="0"/>
            </a:br>
            <a:br>
              <a:rPr lang="en-US" sz="3600" dirty="0"/>
            </a:br>
            <a:r>
              <a:rPr lang="en-US" sz="3600" b="1" dirty="0"/>
              <a:t>REGULATORY COMPLIANCE:</a:t>
            </a:r>
            <a:r>
              <a:rPr lang="en-US" sz="3600" dirty="0"/>
              <a:t> </a:t>
            </a:r>
            <a:r>
              <a:rPr lang="en-US" sz="3100" dirty="0"/>
              <a:t>ENSURING THAT AI MONITORING ADHERES TO WORKPLACE SAFETY REGULATIONS AND LABOR LAWS.</a:t>
            </a:r>
            <a:br>
              <a:rPr lang="en-US" dirty="0"/>
            </a:br>
            <a:endParaRPr lang="en-IN" dirty="0"/>
          </a:p>
        </p:txBody>
      </p:sp>
      <p:pic>
        <p:nvPicPr>
          <p:cNvPr id="4" name="Picture 3">
            <a:extLst>
              <a:ext uri="{FF2B5EF4-FFF2-40B4-BE49-F238E27FC236}">
                <a16:creationId xmlns:a16="http://schemas.microsoft.com/office/drawing/2014/main" id="{9E0FBEB6-48F4-8CC6-DCD0-5C6B569667B0}"/>
              </a:ext>
            </a:extLst>
          </p:cNvPr>
          <p:cNvPicPr>
            <a:picLocks noChangeAspect="1"/>
          </p:cNvPicPr>
          <p:nvPr/>
        </p:nvPicPr>
        <p:blipFill>
          <a:blip r:embed="rId2"/>
          <a:stretch>
            <a:fillRect/>
          </a:stretch>
        </p:blipFill>
        <p:spPr>
          <a:xfrm>
            <a:off x="10287000" y="5886449"/>
            <a:ext cx="1905000" cy="866775"/>
          </a:xfrm>
          <a:prstGeom prst="rect">
            <a:avLst/>
          </a:prstGeom>
        </p:spPr>
      </p:pic>
    </p:spTree>
    <p:extLst>
      <p:ext uri="{BB962C8B-B14F-4D97-AF65-F5344CB8AC3E}">
        <p14:creationId xmlns:p14="http://schemas.microsoft.com/office/powerpoint/2010/main" val="411357114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88"/>
        <p:cNvGrpSpPr/>
        <p:nvPr/>
      </p:nvGrpSpPr>
      <p:grpSpPr>
        <a:xfrm>
          <a:off x="0" y="0"/>
          <a:ext cx="0" cy="0"/>
          <a:chOff x="0" y="0"/>
          <a:chExt cx="0" cy="0"/>
        </a:xfrm>
      </p:grpSpPr>
      <p:cxnSp>
        <p:nvCxnSpPr>
          <p:cNvPr id="490" name="Google Shape;490;p60"/>
          <p:cNvCxnSpPr/>
          <p:nvPr/>
        </p:nvCxnSpPr>
        <p:spPr>
          <a:xfrm>
            <a:off x="0" y="6464596"/>
            <a:ext cx="9597656" cy="0"/>
          </a:xfrm>
          <a:prstGeom prst="straightConnector1">
            <a:avLst/>
          </a:prstGeom>
          <a:noFill/>
          <a:ln w="9525" cap="flat" cmpd="sng">
            <a:solidFill>
              <a:srgbClr val="3B7FF2"/>
            </a:solidFill>
            <a:prstDash val="solid"/>
            <a:round/>
            <a:headEnd type="none" w="sm" len="sm"/>
            <a:tailEnd type="none" w="sm" len="sm"/>
          </a:ln>
        </p:spPr>
      </p:cxnSp>
      <p:pic>
        <p:nvPicPr>
          <p:cNvPr id="491" name="Google Shape;491;p60" descr="Attitudes 2 Animal Cognition Survey – The Anthrozoologist"/>
          <p:cNvPicPr preferRelativeResize="0"/>
          <p:nvPr/>
        </p:nvPicPr>
        <p:blipFill rotWithShape="1">
          <a:blip r:embed="rId3">
            <a:alphaModFix/>
          </a:blip>
          <a:srcRect/>
          <a:stretch/>
        </p:blipFill>
        <p:spPr>
          <a:xfrm>
            <a:off x="0" y="200533"/>
            <a:ext cx="12192000" cy="4182737"/>
          </a:xfrm>
          <a:prstGeom prst="rect">
            <a:avLst/>
          </a:prstGeom>
          <a:noFill/>
          <a:ln>
            <a:noFill/>
          </a:ln>
        </p:spPr>
      </p:pic>
      <p:sp>
        <p:nvSpPr>
          <p:cNvPr id="3" name="TextBox 2">
            <a:extLst>
              <a:ext uri="{FF2B5EF4-FFF2-40B4-BE49-F238E27FC236}">
                <a16:creationId xmlns:a16="http://schemas.microsoft.com/office/drawing/2014/main" id="{29935FF8-7D89-8568-93FF-F4AAEC99501B}"/>
              </a:ext>
            </a:extLst>
          </p:cNvPr>
          <p:cNvSpPr txBox="1"/>
          <p:nvPr/>
        </p:nvSpPr>
        <p:spPr>
          <a:xfrm>
            <a:off x="-1" y="4167567"/>
            <a:ext cx="11907724" cy="2308324"/>
          </a:xfrm>
          <a:prstGeom prst="rect">
            <a:avLst/>
          </a:prstGeom>
          <a:noFill/>
        </p:spPr>
        <p:txBody>
          <a:bodyPr wrap="square">
            <a:spAutoFit/>
          </a:bodyPr>
          <a:lstStyle/>
          <a:p>
            <a:r>
              <a:rPr lang="en-US" sz="2400" dirty="0"/>
              <a:t>IF YOU HAVE ANY QUESTIONS OR NEED FURTHER CLARIFICATION, FEEL FREE TO ASK.</a:t>
            </a:r>
          </a:p>
          <a:p>
            <a:endParaRPr lang="en-US" sz="2400" b="1" dirty="0"/>
          </a:p>
          <a:p>
            <a:r>
              <a:rPr lang="en-US" sz="2400" b="1" dirty="0"/>
              <a:t>PROJECT LEAD: </a:t>
            </a:r>
            <a:r>
              <a:rPr lang="en-US" sz="2400" b="1" dirty="0">
                <a:latin typeface="Arial" panose="020B0604020202020204" pitchFamily="34" charset="0"/>
              </a:rPr>
              <a:t>HARSHIT GAUTAM</a:t>
            </a:r>
            <a:endParaRPr lang="en-US" sz="2400" b="1" dirty="0"/>
          </a:p>
          <a:p>
            <a:endParaRPr lang="en-US" sz="2400" b="1" dirty="0"/>
          </a:p>
          <a:p>
            <a:r>
              <a:rPr lang="en-US" sz="2400" b="1" dirty="0"/>
              <a:t>PRESENTED BY:MANDEEP SINGH THAKUR</a:t>
            </a:r>
            <a:endParaRPr lang="en-US" sz="2400" dirty="0"/>
          </a:p>
        </p:txBody>
      </p:sp>
      <p:pic>
        <p:nvPicPr>
          <p:cNvPr id="4" name="Picture 3">
            <a:extLst>
              <a:ext uri="{FF2B5EF4-FFF2-40B4-BE49-F238E27FC236}">
                <a16:creationId xmlns:a16="http://schemas.microsoft.com/office/drawing/2014/main" id="{848C4BCC-6461-7FEE-1187-AFF7394F6E56}"/>
              </a:ext>
            </a:extLst>
          </p:cNvPr>
          <p:cNvPicPr>
            <a:picLocks noChangeAspect="1"/>
          </p:cNvPicPr>
          <p:nvPr/>
        </p:nvPicPr>
        <p:blipFill>
          <a:blip r:embed="rId4"/>
          <a:stretch>
            <a:fillRect/>
          </a:stretch>
        </p:blipFill>
        <p:spPr>
          <a:xfrm>
            <a:off x="9597656" y="5237735"/>
            <a:ext cx="2475282" cy="141973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567</TotalTime>
  <Words>1800</Words>
  <Application>Microsoft Office PowerPoint</Application>
  <PresentationFormat>Widescreen</PresentationFormat>
  <Paragraphs>127</Paragraphs>
  <Slides>27</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Wingdings</vt:lpstr>
      <vt:lpstr>Times New Roman</vt:lpstr>
      <vt:lpstr>Arial</vt:lpstr>
      <vt:lpstr>Calibri</vt:lpstr>
      <vt:lpstr>Office Theme</vt:lpstr>
      <vt:lpstr>PowerPoint Presentation</vt:lpstr>
      <vt:lpstr>PowerPoint Presentation</vt:lpstr>
      <vt:lpstr>PowerPoint Presentation</vt:lpstr>
      <vt:lpstr>PowerPoint Presentation</vt:lpstr>
      <vt:lpstr>PowerPoint Presentation</vt:lpstr>
      <vt:lpstr>PROJECT ARCHITECTURE</vt:lpstr>
      <vt:lpstr>PowerPoint Presentation</vt:lpstr>
      <vt:lpstr>PowerPoint Presentation</vt:lpstr>
      <vt:lpstr>  Data Dictionary  COKE_REQ: Quantity of coke required for the production process (continuous  numerical).   SCRAP QTY: Quantity of scrap used in the process (continuous numerical).   INJ1_QTY: Quantity of coke injection in the blast furnace (continuous numerical).   PIGIRON: Amount of pig iron produced (continuous numerical).  KWH_PER_TON: Energy consumption per ton of production (continuous numerical).   KWH_PER_MIN: Energy consumption per minute (continuous numerical).   TAPPING_TIME: Timestamp when the tapping process starts (datetime).    </vt:lpstr>
      <vt:lpstr>POW_ON_TIME: Timestamp when the power-on process starts (datetime).   LAB_REP_TIME: Timestamp when the lab report is generated (datetime).   GRADE: Steel grade produced (categorical: quality specification of steel).  SECTION_IC: Section of the production process (categorical: e.g., different stages or areas).   MELT TIME: Time taken for melting the material (continuous numerical). </vt:lpstr>
      <vt:lpstr>HOT_METAL: Amount of hot metal produced (continuous numerical).  Production (MT): Total production in metric tons (continuous numerical).   PREV_TAP_TIME: Timestamp for the previous tapping process (datetime).  VARIOUS OTHER VARIABLES: Additional features related to operational and chemical data (e.g., C, SI, MN- chemical compositions).</vt:lpstr>
      <vt:lpstr> Data Collection:  Production Data: Includes material quantities (COKE REQ SCRAP QTY), energy     consumption (KWH_PER_TON, KWH PER MIN), and time-related variables (TAPPING TIME, POW ON TIME).  Operational Data: Includes hot metal production (HOT METAL) and steel grade (GRADE). Chemical Composition: Data on key materials like C, SI, and MN.  External Factors: Weather and shift data influencing production.  Time-based Data: Timestamps (TAPPING TIME, POW ON TIME) for time-series analysis.          </vt:lpstr>
      <vt:lpstr>PowerPoint Presentation</vt:lpstr>
      <vt:lpstr>PowerPoint Presentation</vt:lpstr>
      <vt:lpstr>PowerPoint Presentation</vt:lpstr>
      <vt:lpstr>Exploratory Data Analysis [EDA]  Statistical Insights:  1.Right-Skewed Distributions:  Features like SCRAP QTY and HOT METAL are positively skewed, with a concentration of values on the lower end and a long tail on the higher end.  2.High Variance &amp;amp; Outliers:  ENERGY and MELT TIME show high variance, primarily due to extreme outliers that cause substantial deviation from the mean.  </vt:lpstr>
      <vt:lpstr>PowerPoint Presentation</vt:lpstr>
      <vt:lpstr>PowerPoint Presentation</vt:lpstr>
      <vt:lpstr>Missing Values Observation Missing Data: LAB_REP_TIME: 29 missing (forward-filled) PREV_TAP_TIME: 3 missing (backward-filled)  Production (MT): 1 missing (median imputed)  Imputation Strategy: Categorical Features: Mode imputation.  Numerical Features: Forward-fill, backward-fill, and median imputation for appropriate columns.   Reason:Mode for categorical to preserve common categories.                  Median/Fill for numerical to maintain distribution and time continuity.  Impact: Missing values handled without data loss or significant distortion. </vt:lpstr>
      <vt:lpstr>Data Preprocessing:  Missing Values: Imputed categorical data with mode and numerical data with median or forward/backward fill.  Outliers: Detected using IQR and capped at valid boundaries.  Variable Transformation: Applied log and square root transformations to handle skewed data.   </vt:lpstr>
      <vt:lpstr>Scaling: Used RobustScaler to scale numerical  features, ensuring robustness to outliers.   Encoding: One-hot encoded categorical features like GRADE and SECTION_IC.   Feature Engineering: Created time-based features (year, month, day) and calculated time differences (e.g., pow_on_to_tap_diff).</vt:lpstr>
      <vt:lpstr> </vt:lpstr>
      <vt:lpstr>PowerPoint Presentation</vt:lpstr>
      <vt:lpstr>PowerPoint Presentation</vt:lpstr>
      <vt:lpstr>5. DEPLOYMENT CHALLENGES (STREAMLIT) LATENCY ISSUES: REAL-TIME OBJECT DETECTION MAY SLOW DOWN DUE TO LARGE IMAGE SIZES.  USER-FRIENDLY INTERFACE: ENSURING A SIMPLE AND INTERACTIVE UI FOR NON-TECHNICAL USERS.  INTEGRATION WITH EXISTING SYSTEMS:  MANY COMPANIES HAVE LEGACY SAFETY MONITORING SYSTEMS THAT NEED SEAMLESS INTEGRATION. </vt:lpstr>
      <vt:lpstr>6. BUSINESS &amp; ECONOMIC CHALLENGES ADOPTION RESISTANCE: EMPLOYEES MAY RESIST AI-BASED MONITORING DUE TO PRIVACY CONCERNS.  COST CONSTRAINTS: BALANCING MODEL ACCURACY WHILE KEEPING DEPLOYMENT AND MAINTENANCE COSTS LOW.  REGULATORY COMPLIANCE: ENSURING THAT AI MONITORING ADHERES TO WORKPLACE SAFETY REGULATIONS AND LABOR LAWS.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VIKAS BARTHWAL</dc:creator>
  <cp:lastModifiedBy>Thakur, Mandeep Singh</cp:lastModifiedBy>
  <cp:revision>96</cp:revision>
  <dcterms:created xsi:type="dcterms:W3CDTF">2022-02-16T01:47:29Z</dcterms:created>
  <dcterms:modified xsi:type="dcterms:W3CDTF">2025-06-16T08:37:07Z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49deba9595b64033890e84905b5c3bc0</vt:lpwstr>
  </property>
</Properties>
</file>